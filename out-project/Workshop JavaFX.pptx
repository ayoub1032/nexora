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4"/>
  </p:sldMasterIdLst>
  <p:notesMasterIdLst>
    <p:notesMasterId r:id="rId31"/>
  </p:notesMasterIdLst>
  <p:handoutMasterIdLst>
    <p:handoutMasterId r:id="rId32"/>
  </p:handoutMasterIdLst>
  <p:sldIdLst>
    <p:sldId id="256" r:id="rId5"/>
    <p:sldId id="281" r:id="rId6"/>
    <p:sldId id="263" r:id="rId7"/>
    <p:sldId id="261" r:id="rId8"/>
    <p:sldId id="260" r:id="rId9"/>
    <p:sldId id="262" r:id="rId10"/>
    <p:sldId id="266" r:id="rId11"/>
    <p:sldId id="283" r:id="rId12"/>
    <p:sldId id="284" r:id="rId13"/>
    <p:sldId id="285" r:id="rId14"/>
    <p:sldId id="286" r:id="rId15"/>
    <p:sldId id="282" r:id="rId16"/>
    <p:sldId id="267" r:id="rId17"/>
    <p:sldId id="264" r:id="rId18"/>
    <p:sldId id="271" r:id="rId19"/>
    <p:sldId id="270" r:id="rId20"/>
    <p:sldId id="273" r:id="rId21"/>
    <p:sldId id="274" r:id="rId22"/>
    <p:sldId id="269" r:id="rId23"/>
    <p:sldId id="275" r:id="rId24"/>
    <p:sldId id="276" r:id="rId25"/>
    <p:sldId id="277" r:id="rId26"/>
    <p:sldId id="265" r:id="rId27"/>
    <p:sldId id="278" r:id="rId28"/>
    <p:sldId id="279" r:id="rId29"/>
    <p:sldId id="280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6F273F-383F-5DAA-30F3-E45F8BFD476E}" v="1" dt="2026-02-04T16:11:49.9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4" autoAdjust="0"/>
    <p:restoredTop sz="94640" autoAdjust="0"/>
  </p:normalViewPr>
  <p:slideViewPr>
    <p:cSldViewPr snapToGrid="0" snapToObjects="1">
      <p:cViewPr varScale="1">
        <p:scale>
          <a:sx n="111" d="100"/>
          <a:sy n="111" d="100"/>
        </p:scale>
        <p:origin x="162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44F2B1-AF78-2640-B1BD-2250B8DFB594}" type="doc">
      <dgm:prSet loTypeId="urn:microsoft.com/office/officeart/2005/8/layout/hierarchy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B94A64E-707B-5D45-8BAD-6C4411089E99}">
      <dgm:prSet phldrT="[Text]"/>
      <dgm:spPr/>
      <dgm:t>
        <a:bodyPr/>
        <a:lstStyle/>
        <a:p>
          <a:r>
            <a:rPr lang="en-US" baseline="30000" dirty="0"/>
            <a:t>[</a:t>
          </a:r>
          <a:r>
            <a:rPr lang="en-US" baseline="30000" dirty="0" err="1"/>
            <a:t>i</a:t>
          </a:r>
          <a:r>
            <a:rPr lang="en-US" baseline="30000" dirty="0"/>
            <a:t>]</a:t>
          </a:r>
          <a:r>
            <a:rPr lang="en-US" dirty="0"/>
            <a:t>Observable</a:t>
          </a:r>
        </a:p>
      </dgm:t>
    </dgm:pt>
    <dgm:pt modelId="{D8762E3E-16C4-1C47-9574-79179641502F}" type="parTrans" cxnId="{C097A165-873B-F144-9E39-9711A635DEDE}">
      <dgm:prSet/>
      <dgm:spPr/>
      <dgm:t>
        <a:bodyPr/>
        <a:lstStyle/>
        <a:p>
          <a:endParaRPr lang="en-US"/>
        </a:p>
      </dgm:t>
    </dgm:pt>
    <dgm:pt modelId="{C114C61D-7D2A-3442-915A-AD3D07797F87}" type="sibTrans" cxnId="{C097A165-873B-F144-9E39-9711A635DEDE}">
      <dgm:prSet/>
      <dgm:spPr/>
      <dgm:t>
        <a:bodyPr/>
        <a:lstStyle/>
        <a:p>
          <a:endParaRPr lang="en-US"/>
        </a:p>
      </dgm:t>
    </dgm:pt>
    <dgm:pt modelId="{5DD83B71-2938-9B4F-9DBF-AAFD450F26AB}">
      <dgm:prSet phldrT="[Text]"/>
      <dgm:spPr/>
      <dgm:t>
        <a:bodyPr/>
        <a:lstStyle/>
        <a:p>
          <a:r>
            <a:rPr lang="en-US" baseline="30000" dirty="0"/>
            <a:t>[</a:t>
          </a:r>
          <a:r>
            <a:rPr lang="en-US" baseline="30000" dirty="0" err="1"/>
            <a:t>i</a:t>
          </a:r>
          <a:r>
            <a:rPr lang="en-US" baseline="30000" dirty="0"/>
            <a:t>]</a:t>
          </a:r>
          <a:r>
            <a:rPr lang="en-US" dirty="0" err="1"/>
            <a:t>ObservableList</a:t>
          </a:r>
          <a:r>
            <a:rPr lang="en-US"/>
            <a:t>&lt;E&gt;</a:t>
          </a:r>
          <a:endParaRPr lang="en-US" dirty="0"/>
        </a:p>
      </dgm:t>
    </dgm:pt>
    <dgm:pt modelId="{83172BBD-9482-644D-AC0D-0D0CB3188BC5}" type="parTrans" cxnId="{A5BD9D02-906D-5245-AFCB-6C147F84AB19}">
      <dgm:prSet/>
      <dgm:spPr/>
      <dgm:t>
        <a:bodyPr/>
        <a:lstStyle/>
        <a:p>
          <a:endParaRPr lang="en-US"/>
        </a:p>
      </dgm:t>
    </dgm:pt>
    <dgm:pt modelId="{33A6AC57-01D2-5048-BE74-F841029E659B}" type="sibTrans" cxnId="{A5BD9D02-906D-5245-AFCB-6C147F84AB19}">
      <dgm:prSet/>
      <dgm:spPr/>
      <dgm:t>
        <a:bodyPr/>
        <a:lstStyle/>
        <a:p>
          <a:endParaRPr lang="en-US"/>
        </a:p>
      </dgm:t>
    </dgm:pt>
    <dgm:pt modelId="{99AE7DF5-60A6-B349-B904-48AD7EF5AB53}">
      <dgm:prSet phldrT="[Text]"/>
      <dgm:spPr/>
      <dgm:t>
        <a:bodyPr/>
        <a:lstStyle/>
        <a:p>
          <a:r>
            <a:rPr lang="en-US" baseline="30000" dirty="0"/>
            <a:t>[c]</a:t>
          </a:r>
          <a:r>
            <a:rPr lang="en-US" dirty="0" err="1"/>
            <a:t>FXCollections</a:t>
          </a:r>
          <a:endParaRPr lang="en-US" dirty="0"/>
        </a:p>
      </dgm:t>
    </dgm:pt>
    <dgm:pt modelId="{743DD1D1-FD96-8C43-A16F-47B82D400C26}" type="parTrans" cxnId="{CD5D0658-1204-5E4A-8555-CB1105CDC6FF}">
      <dgm:prSet/>
      <dgm:spPr/>
      <dgm:t>
        <a:bodyPr/>
        <a:lstStyle/>
        <a:p>
          <a:endParaRPr lang="en-US"/>
        </a:p>
      </dgm:t>
    </dgm:pt>
    <dgm:pt modelId="{CF0E2A44-D171-7447-B9FF-D0E6B2254256}" type="sibTrans" cxnId="{CD5D0658-1204-5E4A-8555-CB1105CDC6FF}">
      <dgm:prSet/>
      <dgm:spPr/>
      <dgm:t>
        <a:bodyPr/>
        <a:lstStyle/>
        <a:p>
          <a:endParaRPr lang="en-US"/>
        </a:p>
      </dgm:t>
    </dgm:pt>
    <dgm:pt modelId="{ADF3026E-02F9-464F-80F7-816600F6CFDB}" type="pres">
      <dgm:prSet presAssocID="{5044F2B1-AF78-2640-B1BD-2250B8DFB59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98D21BB-7CD8-9049-B5F2-2346349D8A1C}" type="pres">
      <dgm:prSet presAssocID="{8B94A64E-707B-5D45-8BAD-6C4411089E99}" presName="hierRoot1" presStyleCnt="0"/>
      <dgm:spPr/>
    </dgm:pt>
    <dgm:pt modelId="{10DAFC21-3435-894A-87C9-5A6B3C901B86}" type="pres">
      <dgm:prSet presAssocID="{8B94A64E-707B-5D45-8BAD-6C4411089E99}" presName="composite" presStyleCnt="0"/>
      <dgm:spPr/>
    </dgm:pt>
    <dgm:pt modelId="{DE75BDF9-B8EE-7947-A1C6-92DEA47B6C98}" type="pres">
      <dgm:prSet presAssocID="{8B94A64E-707B-5D45-8BAD-6C4411089E99}" presName="background" presStyleLbl="node0" presStyleIdx="0" presStyleCnt="2"/>
      <dgm:spPr/>
    </dgm:pt>
    <dgm:pt modelId="{6C54ADE0-92EF-BA4B-91D7-3BFC9CF2F128}" type="pres">
      <dgm:prSet presAssocID="{8B94A64E-707B-5D45-8BAD-6C4411089E99}" presName="text" presStyleLbl="fgAcc0" presStyleIdx="0" presStyleCnt="2" custScaleX="81044" custScaleY="39813" custLinFactNeighborX="-14476" custLinFactNeighborY="-27392">
        <dgm:presLayoutVars>
          <dgm:chPref val="3"/>
        </dgm:presLayoutVars>
      </dgm:prSet>
      <dgm:spPr/>
    </dgm:pt>
    <dgm:pt modelId="{76B137AA-3099-C74F-854A-84DFB1216C0A}" type="pres">
      <dgm:prSet presAssocID="{8B94A64E-707B-5D45-8BAD-6C4411089E99}" presName="hierChild2" presStyleCnt="0"/>
      <dgm:spPr/>
    </dgm:pt>
    <dgm:pt modelId="{E2A76D76-8264-C54D-B58F-933ED8065620}" type="pres">
      <dgm:prSet presAssocID="{83172BBD-9482-644D-AC0D-0D0CB3188BC5}" presName="Name10" presStyleLbl="parChTrans1D2" presStyleIdx="0" presStyleCnt="1"/>
      <dgm:spPr/>
    </dgm:pt>
    <dgm:pt modelId="{9FFB599E-5463-0C4A-B5A5-4DD48809EDF9}" type="pres">
      <dgm:prSet presAssocID="{5DD83B71-2938-9B4F-9DBF-AAFD450F26AB}" presName="hierRoot2" presStyleCnt="0"/>
      <dgm:spPr/>
    </dgm:pt>
    <dgm:pt modelId="{DD48E21A-56CA-6A4F-AE7C-E067B47A8E06}" type="pres">
      <dgm:prSet presAssocID="{5DD83B71-2938-9B4F-9DBF-AAFD450F26AB}" presName="composite2" presStyleCnt="0"/>
      <dgm:spPr/>
    </dgm:pt>
    <dgm:pt modelId="{6DD5EB6B-002D-DD47-AEE1-64035AD77089}" type="pres">
      <dgm:prSet presAssocID="{5DD83B71-2938-9B4F-9DBF-AAFD450F26AB}" presName="background2" presStyleLbl="node2" presStyleIdx="0" presStyleCnt="1"/>
      <dgm:spPr/>
    </dgm:pt>
    <dgm:pt modelId="{39482643-C542-8742-BE0F-5AC3B0D146DE}" type="pres">
      <dgm:prSet presAssocID="{5DD83B71-2938-9B4F-9DBF-AAFD450F26AB}" presName="text2" presStyleLbl="fgAcc2" presStyleIdx="0" presStyleCnt="1" custScaleX="86004" custScaleY="45783" custLinFactNeighborX="-5586" custLinFactNeighborY="-29897">
        <dgm:presLayoutVars>
          <dgm:chPref val="3"/>
        </dgm:presLayoutVars>
      </dgm:prSet>
      <dgm:spPr/>
    </dgm:pt>
    <dgm:pt modelId="{45EDD0FA-7983-D146-9DF8-22EC3C8923FD}" type="pres">
      <dgm:prSet presAssocID="{5DD83B71-2938-9B4F-9DBF-AAFD450F26AB}" presName="hierChild3" presStyleCnt="0"/>
      <dgm:spPr/>
    </dgm:pt>
    <dgm:pt modelId="{DA3B7005-42BC-124D-8398-EB4058F060B2}" type="pres">
      <dgm:prSet presAssocID="{99AE7DF5-60A6-B349-B904-48AD7EF5AB53}" presName="hierRoot1" presStyleCnt="0"/>
      <dgm:spPr/>
    </dgm:pt>
    <dgm:pt modelId="{3F2948ED-DFB4-0B49-92A3-2FA9273298F0}" type="pres">
      <dgm:prSet presAssocID="{99AE7DF5-60A6-B349-B904-48AD7EF5AB53}" presName="composite" presStyleCnt="0"/>
      <dgm:spPr/>
    </dgm:pt>
    <dgm:pt modelId="{0F3E1DBE-62E9-924E-85C9-EB3DA375CF31}" type="pres">
      <dgm:prSet presAssocID="{99AE7DF5-60A6-B349-B904-48AD7EF5AB53}" presName="background" presStyleLbl="node0" presStyleIdx="1" presStyleCnt="2"/>
      <dgm:spPr/>
    </dgm:pt>
    <dgm:pt modelId="{55EC8EE5-953F-9A4D-A7B2-FD4B96F18AF1}" type="pres">
      <dgm:prSet presAssocID="{99AE7DF5-60A6-B349-B904-48AD7EF5AB53}" presName="text" presStyleLbl="fgAcc0" presStyleIdx="1" presStyleCnt="2" custScaleX="76123" custScaleY="41056" custLinFactNeighborX="-16995" custLinFactNeighborY="-26304">
        <dgm:presLayoutVars>
          <dgm:chPref val="3"/>
        </dgm:presLayoutVars>
      </dgm:prSet>
      <dgm:spPr/>
    </dgm:pt>
    <dgm:pt modelId="{10A141E8-2413-0543-822A-D0B30E1E9374}" type="pres">
      <dgm:prSet presAssocID="{99AE7DF5-60A6-B349-B904-48AD7EF5AB53}" presName="hierChild2" presStyleCnt="0"/>
      <dgm:spPr/>
    </dgm:pt>
  </dgm:ptLst>
  <dgm:cxnLst>
    <dgm:cxn modelId="{A5BD9D02-906D-5245-AFCB-6C147F84AB19}" srcId="{8B94A64E-707B-5D45-8BAD-6C4411089E99}" destId="{5DD83B71-2938-9B4F-9DBF-AAFD450F26AB}" srcOrd="0" destOrd="0" parTransId="{83172BBD-9482-644D-AC0D-0D0CB3188BC5}" sibTransId="{33A6AC57-01D2-5048-BE74-F841029E659B}"/>
    <dgm:cxn modelId="{DAC8B70D-8023-6F49-99DC-B69DFFFBC3BD}" type="presOf" srcId="{5044F2B1-AF78-2640-B1BD-2250B8DFB594}" destId="{ADF3026E-02F9-464F-80F7-816600F6CFDB}" srcOrd="0" destOrd="0" presId="urn:microsoft.com/office/officeart/2005/8/layout/hierarchy1"/>
    <dgm:cxn modelId="{B82C5E44-7DE4-1742-B0C7-6DA5ED48C70A}" type="presOf" srcId="{99AE7DF5-60A6-B349-B904-48AD7EF5AB53}" destId="{55EC8EE5-953F-9A4D-A7B2-FD4B96F18AF1}" srcOrd="0" destOrd="0" presId="urn:microsoft.com/office/officeart/2005/8/layout/hierarchy1"/>
    <dgm:cxn modelId="{C097A165-873B-F144-9E39-9711A635DEDE}" srcId="{5044F2B1-AF78-2640-B1BD-2250B8DFB594}" destId="{8B94A64E-707B-5D45-8BAD-6C4411089E99}" srcOrd="0" destOrd="0" parTransId="{D8762E3E-16C4-1C47-9574-79179641502F}" sibTransId="{C114C61D-7D2A-3442-915A-AD3D07797F87}"/>
    <dgm:cxn modelId="{CD5D0658-1204-5E4A-8555-CB1105CDC6FF}" srcId="{5044F2B1-AF78-2640-B1BD-2250B8DFB594}" destId="{99AE7DF5-60A6-B349-B904-48AD7EF5AB53}" srcOrd="1" destOrd="0" parTransId="{743DD1D1-FD96-8C43-A16F-47B82D400C26}" sibTransId="{CF0E2A44-D171-7447-B9FF-D0E6B2254256}"/>
    <dgm:cxn modelId="{E37CB789-69B1-5141-8AE5-BF8471F60D35}" type="presOf" srcId="{83172BBD-9482-644D-AC0D-0D0CB3188BC5}" destId="{E2A76D76-8264-C54D-B58F-933ED8065620}" srcOrd="0" destOrd="0" presId="urn:microsoft.com/office/officeart/2005/8/layout/hierarchy1"/>
    <dgm:cxn modelId="{B782859D-8090-3E49-B252-8161FA6E1F7D}" type="presOf" srcId="{5DD83B71-2938-9B4F-9DBF-AAFD450F26AB}" destId="{39482643-C542-8742-BE0F-5AC3B0D146DE}" srcOrd="0" destOrd="0" presId="urn:microsoft.com/office/officeart/2005/8/layout/hierarchy1"/>
    <dgm:cxn modelId="{F5FC21D7-2D81-1441-A4B9-C1C44D881313}" type="presOf" srcId="{8B94A64E-707B-5D45-8BAD-6C4411089E99}" destId="{6C54ADE0-92EF-BA4B-91D7-3BFC9CF2F128}" srcOrd="0" destOrd="0" presId="urn:microsoft.com/office/officeart/2005/8/layout/hierarchy1"/>
    <dgm:cxn modelId="{071AB6AA-EFC6-AD44-817B-1E89397F1A0E}" type="presParOf" srcId="{ADF3026E-02F9-464F-80F7-816600F6CFDB}" destId="{798D21BB-7CD8-9049-B5F2-2346349D8A1C}" srcOrd="0" destOrd="0" presId="urn:microsoft.com/office/officeart/2005/8/layout/hierarchy1"/>
    <dgm:cxn modelId="{C061ECD0-D082-0144-ABE8-A3D9BA3E77F4}" type="presParOf" srcId="{798D21BB-7CD8-9049-B5F2-2346349D8A1C}" destId="{10DAFC21-3435-894A-87C9-5A6B3C901B86}" srcOrd="0" destOrd="0" presId="urn:microsoft.com/office/officeart/2005/8/layout/hierarchy1"/>
    <dgm:cxn modelId="{7D12FAD8-0170-E145-8C4B-6335D127FC82}" type="presParOf" srcId="{10DAFC21-3435-894A-87C9-5A6B3C901B86}" destId="{DE75BDF9-B8EE-7947-A1C6-92DEA47B6C98}" srcOrd="0" destOrd="0" presId="urn:microsoft.com/office/officeart/2005/8/layout/hierarchy1"/>
    <dgm:cxn modelId="{129AF3C3-A84F-0742-8011-D42BBD566CCC}" type="presParOf" srcId="{10DAFC21-3435-894A-87C9-5A6B3C901B86}" destId="{6C54ADE0-92EF-BA4B-91D7-3BFC9CF2F128}" srcOrd="1" destOrd="0" presId="urn:microsoft.com/office/officeart/2005/8/layout/hierarchy1"/>
    <dgm:cxn modelId="{51C2E221-07CD-4A4F-97DE-47364B125BE2}" type="presParOf" srcId="{798D21BB-7CD8-9049-B5F2-2346349D8A1C}" destId="{76B137AA-3099-C74F-854A-84DFB1216C0A}" srcOrd="1" destOrd="0" presId="urn:microsoft.com/office/officeart/2005/8/layout/hierarchy1"/>
    <dgm:cxn modelId="{36599866-1E0F-8847-8F2B-0EDF305751FF}" type="presParOf" srcId="{76B137AA-3099-C74F-854A-84DFB1216C0A}" destId="{E2A76D76-8264-C54D-B58F-933ED8065620}" srcOrd="0" destOrd="0" presId="urn:microsoft.com/office/officeart/2005/8/layout/hierarchy1"/>
    <dgm:cxn modelId="{DCF80491-02D6-244D-8505-3E0DCD9F29D3}" type="presParOf" srcId="{76B137AA-3099-C74F-854A-84DFB1216C0A}" destId="{9FFB599E-5463-0C4A-B5A5-4DD48809EDF9}" srcOrd="1" destOrd="0" presId="urn:microsoft.com/office/officeart/2005/8/layout/hierarchy1"/>
    <dgm:cxn modelId="{44D7C13C-0CB5-1A40-A674-AAA56838C912}" type="presParOf" srcId="{9FFB599E-5463-0C4A-B5A5-4DD48809EDF9}" destId="{DD48E21A-56CA-6A4F-AE7C-E067B47A8E06}" srcOrd="0" destOrd="0" presId="urn:microsoft.com/office/officeart/2005/8/layout/hierarchy1"/>
    <dgm:cxn modelId="{2304BD09-51DC-5941-BD67-46D000E6DB95}" type="presParOf" srcId="{DD48E21A-56CA-6A4F-AE7C-E067B47A8E06}" destId="{6DD5EB6B-002D-DD47-AEE1-64035AD77089}" srcOrd="0" destOrd="0" presId="urn:microsoft.com/office/officeart/2005/8/layout/hierarchy1"/>
    <dgm:cxn modelId="{422B70DE-9409-8D44-B9EE-20E9C5EE1784}" type="presParOf" srcId="{DD48E21A-56CA-6A4F-AE7C-E067B47A8E06}" destId="{39482643-C542-8742-BE0F-5AC3B0D146DE}" srcOrd="1" destOrd="0" presId="urn:microsoft.com/office/officeart/2005/8/layout/hierarchy1"/>
    <dgm:cxn modelId="{270FA490-2994-6B49-98FF-B2C157572326}" type="presParOf" srcId="{9FFB599E-5463-0C4A-B5A5-4DD48809EDF9}" destId="{45EDD0FA-7983-D146-9DF8-22EC3C8923FD}" srcOrd="1" destOrd="0" presId="urn:microsoft.com/office/officeart/2005/8/layout/hierarchy1"/>
    <dgm:cxn modelId="{31983F80-BD20-D841-AD8C-7F8DCAE14A78}" type="presParOf" srcId="{ADF3026E-02F9-464F-80F7-816600F6CFDB}" destId="{DA3B7005-42BC-124D-8398-EB4058F060B2}" srcOrd="1" destOrd="0" presId="urn:microsoft.com/office/officeart/2005/8/layout/hierarchy1"/>
    <dgm:cxn modelId="{E116B0ED-517A-CE47-B392-98C2C650AEBB}" type="presParOf" srcId="{DA3B7005-42BC-124D-8398-EB4058F060B2}" destId="{3F2948ED-DFB4-0B49-92A3-2FA9273298F0}" srcOrd="0" destOrd="0" presId="urn:microsoft.com/office/officeart/2005/8/layout/hierarchy1"/>
    <dgm:cxn modelId="{053F037E-0193-CA49-BCD3-0D70F861FCDF}" type="presParOf" srcId="{3F2948ED-DFB4-0B49-92A3-2FA9273298F0}" destId="{0F3E1DBE-62E9-924E-85C9-EB3DA375CF31}" srcOrd="0" destOrd="0" presId="urn:microsoft.com/office/officeart/2005/8/layout/hierarchy1"/>
    <dgm:cxn modelId="{2C0D48A2-5F4E-3A48-A878-453A11FDD2B5}" type="presParOf" srcId="{3F2948ED-DFB4-0B49-92A3-2FA9273298F0}" destId="{55EC8EE5-953F-9A4D-A7B2-FD4B96F18AF1}" srcOrd="1" destOrd="0" presId="urn:microsoft.com/office/officeart/2005/8/layout/hierarchy1"/>
    <dgm:cxn modelId="{338BC1C9-819A-6B4F-B976-9FF98912D17A}" type="presParOf" srcId="{DA3B7005-42BC-124D-8398-EB4058F060B2}" destId="{10A141E8-2413-0543-822A-D0B30E1E937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A76D76-8264-C54D-B58F-933ED8065620}">
      <dsp:nvSpPr>
        <dsp:cNvPr id="0" name=""/>
        <dsp:cNvSpPr/>
      </dsp:nvSpPr>
      <dsp:spPr>
        <a:xfrm>
          <a:off x="928134" y="797822"/>
          <a:ext cx="255631" cy="8675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5254"/>
              </a:lnTo>
              <a:lnTo>
                <a:pt x="255631" y="575254"/>
              </a:lnTo>
              <a:lnTo>
                <a:pt x="255631" y="86759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75BDF9-B8EE-7947-A1C6-92DEA47B6C98}">
      <dsp:nvSpPr>
        <dsp:cNvPr id="0" name=""/>
        <dsp:cNvSpPr/>
      </dsp:nvSpPr>
      <dsp:spPr>
        <a:xfrm>
          <a:off x="-350639" y="8"/>
          <a:ext cx="2557547" cy="7978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C54ADE0-92EF-BA4B-91D7-3BFC9CF2F128}">
      <dsp:nvSpPr>
        <dsp:cNvPr id="0" name=""/>
        <dsp:cNvSpPr/>
      </dsp:nvSpPr>
      <dsp:spPr>
        <a:xfrm>
          <a:off x="0" y="333115"/>
          <a:ext cx="2557547" cy="7978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30000" dirty="0"/>
            <a:t>[</a:t>
          </a:r>
          <a:r>
            <a:rPr lang="en-US" sz="2000" kern="1200" baseline="30000" dirty="0" err="1"/>
            <a:t>i</a:t>
          </a:r>
          <a:r>
            <a:rPr lang="en-US" sz="2000" kern="1200" baseline="30000" dirty="0"/>
            <a:t>]</a:t>
          </a:r>
          <a:r>
            <a:rPr lang="en-US" sz="2000" kern="1200" dirty="0"/>
            <a:t>Observable</a:t>
          </a:r>
        </a:p>
      </dsp:txBody>
      <dsp:txXfrm>
        <a:off x="23367" y="356482"/>
        <a:ext cx="2510813" cy="751079"/>
      </dsp:txXfrm>
    </dsp:sp>
    <dsp:sp modelId="{6DD5EB6B-002D-DD47-AEE1-64035AD77089}">
      <dsp:nvSpPr>
        <dsp:cNvPr id="0" name=""/>
        <dsp:cNvSpPr/>
      </dsp:nvSpPr>
      <dsp:spPr>
        <a:xfrm>
          <a:off x="-173270" y="1665422"/>
          <a:ext cx="2714072" cy="9174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9482643-C542-8742-BE0F-5AC3B0D146DE}">
      <dsp:nvSpPr>
        <dsp:cNvPr id="0" name=""/>
        <dsp:cNvSpPr/>
      </dsp:nvSpPr>
      <dsp:spPr>
        <a:xfrm>
          <a:off x="177368" y="1998529"/>
          <a:ext cx="2714072" cy="9174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30000" dirty="0"/>
            <a:t>[</a:t>
          </a:r>
          <a:r>
            <a:rPr lang="en-US" sz="2000" kern="1200" baseline="30000" dirty="0" err="1"/>
            <a:t>i</a:t>
          </a:r>
          <a:r>
            <a:rPr lang="en-US" sz="2000" kern="1200" baseline="30000" dirty="0"/>
            <a:t>]</a:t>
          </a:r>
          <a:r>
            <a:rPr lang="en-US" sz="2000" kern="1200" dirty="0" err="1"/>
            <a:t>ObservableList</a:t>
          </a:r>
          <a:r>
            <a:rPr lang="en-US" sz="2000" kern="1200"/>
            <a:t>&lt;E&gt;</a:t>
          </a:r>
          <a:endParaRPr lang="en-US" sz="2000" kern="1200" dirty="0"/>
        </a:p>
      </dsp:txBody>
      <dsp:txXfrm>
        <a:off x="204239" y="2025400"/>
        <a:ext cx="2660330" cy="863704"/>
      </dsp:txXfrm>
    </dsp:sp>
    <dsp:sp modelId="{0F3E1DBE-62E9-924E-85C9-EB3DA375CF31}">
      <dsp:nvSpPr>
        <dsp:cNvPr id="0" name=""/>
        <dsp:cNvSpPr/>
      </dsp:nvSpPr>
      <dsp:spPr>
        <a:xfrm>
          <a:off x="2803778" y="21811"/>
          <a:ext cx="2402252" cy="8227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5EC8EE5-953F-9A4D-A7B2-FD4B96F18AF1}">
      <dsp:nvSpPr>
        <dsp:cNvPr id="0" name=""/>
        <dsp:cNvSpPr/>
      </dsp:nvSpPr>
      <dsp:spPr>
        <a:xfrm>
          <a:off x="3154417" y="354918"/>
          <a:ext cx="2402252" cy="8227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30000" dirty="0"/>
            <a:t>[c]</a:t>
          </a:r>
          <a:r>
            <a:rPr lang="en-US" sz="2000" kern="1200" dirty="0" err="1"/>
            <a:t>FXCollections</a:t>
          </a:r>
          <a:endParaRPr lang="en-US" sz="2000" kern="1200" dirty="0"/>
        </a:p>
      </dsp:txBody>
      <dsp:txXfrm>
        <a:off x="3178514" y="379015"/>
        <a:ext cx="2354058" cy="7745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F6541-FCCB-B24E-AAF1-06AB6F2EDF6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C06F4-D79D-B248-AC75-CB46BAFD5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18034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9C6025-0484-8040-9CA0-67D4437711E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D9330E-71F4-6340-8B2A-FA37AE18D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1227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initialize(URL </a:t>
            </a:r>
            <a:r>
              <a:rPr lang="en-US" dirty="0" err="1"/>
              <a:t>url</a:t>
            </a:r>
            <a:r>
              <a:rPr lang="en-US" dirty="0"/>
              <a:t>, </a:t>
            </a:r>
            <a:r>
              <a:rPr lang="en-US" dirty="0" err="1"/>
              <a:t>ResourceBundle</a:t>
            </a:r>
            <a:r>
              <a:rPr lang="en-US" dirty="0"/>
              <a:t> </a:t>
            </a:r>
            <a:r>
              <a:rPr lang="en-US" dirty="0" err="1"/>
              <a:t>rb</a:t>
            </a:r>
            <a:r>
              <a:rPr lang="en-US" dirty="0"/>
              <a:t>) {</a:t>
            </a:r>
          </a:p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D9330E-71F4-6340-8B2A-FA37AE18D88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09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D9330E-71F4-6340-8B2A-FA37AE18D88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311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D9330E-71F4-6340-8B2A-FA37AE18D88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311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D9330E-71F4-6340-8B2A-FA37AE18D88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311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D9330E-71F4-6340-8B2A-FA37AE18D88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882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com/sun/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javafx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/scene/control/skin/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modena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D9330E-71F4-6340-8B2A-FA37AE18D88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794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it-IT"/>
              <a:t>Cliquez et modifiez le titre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Cliquez pour modifier le style des sous-titres du masque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FFB03309-0853-F54E-924E-2172BABFAC70}" type="datetime1">
              <a:rPr lang="fr-FR" smtClean="0"/>
              <a:t>04/02/2026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Cliquez et modifiez le titre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it-IT"/>
              <a:t>Cliquez pour modifier les styles du texte du masque</a:t>
            </a:r>
          </a:p>
          <a:p>
            <a:pPr lvl="1"/>
            <a:r>
              <a:rPr lang="it-IT"/>
              <a:t>Deuxième niveau</a:t>
            </a:r>
          </a:p>
          <a:p>
            <a:pPr lvl="2"/>
            <a:r>
              <a:rPr lang="it-IT"/>
              <a:t>Troisième niveau</a:t>
            </a:r>
          </a:p>
          <a:p>
            <a:pPr lvl="3"/>
            <a:r>
              <a:rPr lang="it-IT"/>
              <a:t>Quatrième niveau</a:t>
            </a:r>
          </a:p>
          <a:p>
            <a:pPr lvl="4"/>
            <a:r>
              <a:rPr lang="it-IT"/>
              <a:t>Cinquième niveau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3309-0853-F54E-924E-2172BABFAC70}" type="datetime1">
              <a:rPr lang="fr-FR" smtClean="0"/>
              <a:t>04/02/2026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it-IT"/>
              <a:t>Cliquez et modifiez le titre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it-IT"/>
              <a:t>Cliquez pour modifier les styles du texte du masque</a:t>
            </a:r>
          </a:p>
          <a:p>
            <a:pPr lvl="1"/>
            <a:r>
              <a:rPr lang="it-IT"/>
              <a:t>Deuxième niveau</a:t>
            </a:r>
          </a:p>
          <a:p>
            <a:pPr lvl="2"/>
            <a:r>
              <a:rPr lang="it-IT"/>
              <a:t>Troisième niveau</a:t>
            </a:r>
          </a:p>
          <a:p>
            <a:pPr lvl="3"/>
            <a:r>
              <a:rPr lang="it-IT"/>
              <a:t>Quatrième niveau</a:t>
            </a:r>
          </a:p>
          <a:p>
            <a:pPr lvl="4"/>
            <a:r>
              <a:rPr lang="it-IT"/>
              <a:t>Cinquième niveau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3309-0853-F54E-924E-2172BABFAC70}" type="datetime1">
              <a:rPr lang="fr-FR" smtClean="0"/>
              <a:t>04/02/2026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Cliquez pour modifier les styles du texte du masque</a:t>
            </a: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 avec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it-IT"/>
              <a:t>Cliquez et modifiez le titre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Cliquez pour modifier le style des sous-titres du masque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FFB03309-0853-F54E-924E-2172BABFAC70}" type="datetime1">
              <a:rPr lang="fr-FR" smtClean="0"/>
              <a:t>04/02/2026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it-IT"/>
              <a:t>Faire glisser l'image vers l'espace réservé ou cliquer sur l'icône pour l'ajouter</a:t>
            </a:r>
            <a:endParaRPr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it-IT"/>
              <a:t>Faire glisser l'image vers l'espace réservé ou cliquer sur l'icône pour l'ajouter</a:t>
            </a:r>
            <a:endParaRPr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spcBef>
                <a:spcPts val="600"/>
              </a:spcBef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it-IT"/>
              <a:t>Cliquez pour modifier les styles du texte du masque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it-IT"/>
              <a:t>Cliquez et modifiez le titre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FFB03309-0853-F54E-924E-2172BABFAC70}" type="datetime1">
              <a:rPr lang="fr-FR" smtClean="0"/>
              <a:t>04/02/2026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Cliquez et modifiez le titre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Cliquez pour modifier les styles du texte du masque</a:t>
            </a:r>
          </a:p>
          <a:p>
            <a:pPr lvl="1"/>
            <a:r>
              <a:rPr lang="it-IT"/>
              <a:t>Deuxième niveau</a:t>
            </a:r>
          </a:p>
          <a:p>
            <a:pPr lvl="2"/>
            <a:r>
              <a:rPr lang="it-IT"/>
              <a:t>Troisième niveau</a:t>
            </a:r>
          </a:p>
          <a:p>
            <a:pPr lvl="3"/>
            <a:r>
              <a:rPr lang="it-IT"/>
              <a:t>Quatrième niveau</a:t>
            </a:r>
          </a:p>
          <a:p>
            <a:pPr lvl="4"/>
            <a:r>
              <a:rPr lang="it-IT"/>
              <a:t>Cinquième niveau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Cliquez pour modifier les styles du texte du masque</a:t>
            </a:r>
          </a:p>
          <a:p>
            <a:pPr lvl="1"/>
            <a:r>
              <a:rPr lang="it-IT"/>
              <a:t>Deuxième niveau</a:t>
            </a:r>
          </a:p>
          <a:p>
            <a:pPr lvl="2"/>
            <a:r>
              <a:rPr lang="it-IT"/>
              <a:t>Troisième niveau</a:t>
            </a:r>
          </a:p>
          <a:p>
            <a:pPr lvl="3"/>
            <a:r>
              <a:rPr lang="it-IT"/>
              <a:t>Quatrième niveau</a:t>
            </a:r>
          </a:p>
          <a:p>
            <a:pPr lvl="4"/>
            <a:r>
              <a:rPr lang="it-IT"/>
              <a:t>Cinquième niveau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3309-0853-F54E-924E-2172BABFAC70}" type="datetime1">
              <a:rPr lang="fr-FR" smtClean="0"/>
              <a:t>04/02/2026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Cliquez et modifiez le titre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Cliquez pour modifier les styles du texte du masque</a:t>
            </a:r>
          </a:p>
          <a:p>
            <a:pPr lvl="1"/>
            <a:r>
              <a:rPr lang="it-IT"/>
              <a:t>Deuxième niveau</a:t>
            </a:r>
          </a:p>
          <a:p>
            <a:pPr lvl="2"/>
            <a:r>
              <a:rPr lang="it-IT"/>
              <a:t>Troisième niveau</a:t>
            </a:r>
          </a:p>
          <a:p>
            <a:pPr lvl="3"/>
            <a:r>
              <a:rPr lang="it-IT"/>
              <a:t>Quatrième niveau</a:t>
            </a:r>
          </a:p>
          <a:p>
            <a:pPr lvl="4"/>
            <a:r>
              <a:rPr lang="it-IT"/>
              <a:t>Cinquième niveau</a:t>
            </a:r>
            <a:endParaRPr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Cliquez pour modifier les styles du texte du masque</a:t>
            </a:r>
          </a:p>
          <a:p>
            <a:pPr lvl="1"/>
            <a:r>
              <a:rPr lang="it-IT"/>
              <a:t>Deuxième niveau</a:t>
            </a:r>
          </a:p>
          <a:p>
            <a:pPr lvl="2"/>
            <a:r>
              <a:rPr lang="it-IT"/>
              <a:t>Troisième niveau</a:t>
            </a:r>
          </a:p>
          <a:p>
            <a:pPr lvl="3"/>
            <a:r>
              <a:rPr lang="it-IT"/>
              <a:t>Quatrième niveau</a:t>
            </a:r>
          </a:p>
          <a:p>
            <a:pPr lvl="4"/>
            <a:r>
              <a:rPr lang="it-IT"/>
              <a:t>Cinquième niveau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3309-0853-F54E-924E-2172BABFAC70}" type="datetime1">
              <a:rPr lang="fr-FR" smtClean="0"/>
              <a:t>04/02/2026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Cliquez pour modifier les styles du texte du masque</a:t>
            </a: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us, Haut et b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Cliquez et modifiez le titre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Cliquez pour modifier les styles du texte du masque</a:t>
            </a:r>
          </a:p>
          <a:p>
            <a:pPr lvl="1"/>
            <a:r>
              <a:rPr lang="it-IT"/>
              <a:t>Deuxième niveau</a:t>
            </a:r>
          </a:p>
          <a:p>
            <a:pPr lvl="2"/>
            <a:r>
              <a:rPr lang="it-IT"/>
              <a:t>Troisième niveau</a:t>
            </a:r>
          </a:p>
          <a:p>
            <a:pPr lvl="3"/>
            <a:r>
              <a:rPr lang="it-IT"/>
              <a:t>Quatrième niveau</a:t>
            </a:r>
          </a:p>
          <a:p>
            <a:pPr lvl="4"/>
            <a:r>
              <a:rPr lang="it-IT"/>
              <a:t>Cinquième niveau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3309-0853-F54E-924E-2172BABFAC70}" type="datetime1">
              <a:rPr lang="fr-FR" smtClean="0"/>
              <a:t>04/02/2026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Cliquez pour modifier les styles du texte du masque</a:t>
            </a:r>
          </a:p>
          <a:p>
            <a:pPr lvl="1"/>
            <a:r>
              <a:rPr lang="it-IT"/>
              <a:t>Deuxième niveau</a:t>
            </a:r>
          </a:p>
          <a:p>
            <a:pPr lvl="2"/>
            <a:r>
              <a:rPr lang="it-IT"/>
              <a:t>Troisième niveau</a:t>
            </a:r>
          </a:p>
          <a:p>
            <a:pPr lvl="3"/>
            <a:r>
              <a:rPr lang="it-IT"/>
              <a:t>Quatrième niveau</a:t>
            </a:r>
          </a:p>
          <a:p>
            <a:pPr lvl="4"/>
            <a:r>
              <a:rPr lang="it-IT"/>
              <a:t>Cinquième niveau</a:t>
            </a:r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Cliquez et modifiez le titre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Cliquez pour modifier les styles du texte du masque</a:t>
            </a:r>
          </a:p>
          <a:p>
            <a:pPr lvl="1"/>
            <a:r>
              <a:rPr lang="it-IT"/>
              <a:t>Deuxième niveau</a:t>
            </a:r>
          </a:p>
          <a:p>
            <a:pPr lvl="2"/>
            <a:r>
              <a:rPr lang="it-IT"/>
              <a:t>Troisième niveau</a:t>
            </a:r>
          </a:p>
          <a:p>
            <a:pPr lvl="3"/>
            <a:r>
              <a:rPr lang="it-IT"/>
              <a:t>Quatrième niveau</a:t>
            </a:r>
          </a:p>
          <a:p>
            <a:pPr lvl="4"/>
            <a:r>
              <a:rPr lang="it-IT"/>
              <a:t>Cinquième niveau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3309-0853-F54E-924E-2172BABFAC70}" type="datetime1">
              <a:rPr lang="fr-FR" smtClean="0"/>
              <a:t>04/02/2026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Cliquez pour modifier les styles du texte du masque</a:t>
            </a:r>
          </a:p>
          <a:p>
            <a:pPr lvl="1"/>
            <a:r>
              <a:rPr lang="it-IT"/>
              <a:t>Deuxième niveau</a:t>
            </a:r>
          </a:p>
          <a:p>
            <a:pPr lvl="2"/>
            <a:r>
              <a:rPr lang="it-IT"/>
              <a:t>Troisième niveau</a:t>
            </a:r>
          </a:p>
          <a:p>
            <a:pPr lvl="3"/>
            <a:r>
              <a:rPr lang="it-IT"/>
              <a:t>Quatrième niveau</a:t>
            </a:r>
          </a:p>
          <a:p>
            <a:pPr lvl="4"/>
            <a:r>
              <a:rPr lang="it-IT"/>
              <a:t>Cinquième niveau</a:t>
            </a:r>
            <a:endParaRPr dirty="0"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Cliquez pour modifier les styles du texte du masque</a:t>
            </a:r>
          </a:p>
          <a:p>
            <a:pPr lvl="1"/>
            <a:r>
              <a:rPr lang="it-IT"/>
              <a:t>Deuxième niveau</a:t>
            </a:r>
          </a:p>
          <a:p>
            <a:pPr lvl="2"/>
            <a:r>
              <a:rPr lang="it-IT"/>
              <a:t>Troisième niveau</a:t>
            </a:r>
          </a:p>
          <a:p>
            <a:pPr lvl="3"/>
            <a:r>
              <a:rPr lang="it-IT"/>
              <a:t>Quatrième niveau</a:t>
            </a:r>
          </a:p>
          <a:p>
            <a:pPr lvl="4"/>
            <a:r>
              <a:rPr lang="it-IT"/>
              <a:t>Cinquième niveau</a:t>
            </a:r>
            <a:endParaRPr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Cliquez et modifiez le titre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3309-0853-F54E-924E-2172BABFAC70}" type="datetime1">
              <a:rPr lang="fr-FR" smtClean="0"/>
              <a:t>04/02/2026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Cliquez pour modifier les styles du texte du masque</a:t>
            </a:r>
          </a:p>
          <a:p>
            <a:pPr lvl="1"/>
            <a:r>
              <a:rPr lang="it-IT"/>
              <a:t>Deuxième niveau</a:t>
            </a:r>
          </a:p>
          <a:p>
            <a:pPr lvl="2"/>
            <a:r>
              <a:rPr lang="it-IT"/>
              <a:t>Troisième niveau</a:t>
            </a:r>
          </a:p>
          <a:p>
            <a:pPr lvl="3"/>
            <a:r>
              <a:rPr lang="it-IT"/>
              <a:t>Quatrième niveau</a:t>
            </a:r>
          </a:p>
          <a:p>
            <a:pPr lvl="4"/>
            <a:r>
              <a:rPr lang="it-IT"/>
              <a:t>Cinquième niveau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Cliquez pour modifier les styles du texte du masque</a:t>
            </a:r>
          </a:p>
          <a:p>
            <a:pPr lvl="1"/>
            <a:r>
              <a:rPr lang="it-IT"/>
              <a:t>Deuxième niveau</a:t>
            </a:r>
          </a:p>
          <a:p>
            <a:pPr lvl="2"/>
            <a:r>
              <a:rPr lang="it-IT"/>
              <a:t>Troisième niveau</a:t>
            </a:r>
          </a:p>
          <a:p>
            <a:pPr lvl="3"/>
            <a:r>
              <a:rPr lang="it-IT"/>
              <a:t>Quatrième niveau</a:t>
            </a:r>
          </a:p>
          <a:p>
            <a:pPr lvl="4"/>
            <a:r>
              <a:rPr lang="it-IT"/>
              <a:t>Cinquième niveau</a:t>
            </a:r>
            <a:endParaRPr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Cliquez pour modifier les styles du texte du masque</a:t>
            </a:r>
          </a:p>
          <a:p>
            <a:pPr lvl="1"/>
            <a:r>
              <a:rPr lang="it-IT"/>
              <a:t>Deuxième niveau</a:t>
            </a:r>
          </a:p>
          <a:p>
            <a:pPr lvl="2"/>
            <a:r>
              <a:rPr lang="it-IT"/>
              <a:t>Troisième niveau</a:t>
            </a:r>
          </a:p>
          <a:p>
            <a:pPr lvl="3"/>
            <a:r>
              <a:rPr lang="it-IT"/>
              <a:t>Quatrième niveau</a:t>
            </a:r>
          </a:p>
          <a:p>
            <a:pPr lvl="4"/>
            <a:r>
              <a:rPr lang="it-IT"/>
              <a:t>Cinquième niveau</a:t>
            </a:r>
            <a:endParaRPr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Cliquez pour modifier les styles du texte du masque</a:t>
            </a:r>
          </a:p>
          <a:p>
            <a:pPr lvl="1"/>
            <a:r>
              <a:rPr lang="it-IT"/>
              <a:t>Deuxième niveau</a:t>
            </a:r>
          </a:p>
          <a:p>
            <a:pPr lvl="2"/>
            <a:r>
              <a:rPr lang="it-IT"/>
              <a:t>Troisième niveau</a:t>
            </a:r>
          </a:p>
          <a:p>
            <a:pPr lvl="3"/>
            <a:r>
              <a:rPr lang="it-IT"/>
              <a:t>Quatrième niveau</a:t>
            </a:r>
          </a:p>
          <a:p>
            <a:pPr lvl="4"/>
            <a:r>
              <a:rPr lang="it-IT"/>
              <a:t>Cinquième niveau</a:t>
            </a:r>
            <a:endParaRPr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Cliquez et modifiez le titre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3309-0853-F54E-924E-2172BABFAC70}" type="datetime1">
              <a:rPr lang="fr-FR" smtClean="0"/>
              <a:t>04/02/2026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3309-0853-F54E-924E-2172BABFAC70}" type="datetime1">
              <a:rPr lang="fr-FR" smtClean="0"/>
              <a:t>04/02/2026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it-IT"/>
              <a:t>Cliquez et modifiez le titre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Cliquez pour modifier les styles du texte du masque</a:t>
            </a:r>
          </a:p>
          <a:p>
            <a:pPr lvl="1"/>
            <a:r>
              <a:rPr lang="it-IT"/>
              <a:t>Deuxième niveau</a:t>
            </a:r>
          </a:p>
          <a:p>
            <a:pPr lvl="2"/>
            <a:r>
              <a:rPr lang="it-IT"/>
              <a:t>Troisième niveau</a:t>
            </a:r>
          </a:p>
          <a:p>
            <a:pPr lvl="3"/>
            <a:r>
              <a:rPr lang="it-IT"/>
              <a:t>Quatrième niveau</a:t>
            </a:r>
          </a:p>
          <a:p>
            <a:pPr lvl="4"/>
            <a:r>
              <a:rPr lang="it-IT"/>
              <a:t>Cinquième niveau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FFB03309-0853-F54E-924E-2172BABFAC70}" type="datetime1">
              <a:rPr lang="fr-FR" smtClean="0"/>
              <a:t>04/02/2026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it-IT"/>
              <a:t>Cliquez et modifiez le titre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Faire glisser l'image vers l'espace réservé ou cliquer sur l'icône pour l'ajouter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FFB03309-0853-F54E-924E-2172BABFAC70}" type="datetime1">
              <a:rPr lang="fr-FR" smtClean="0"/>
              <a:t>04/02/2026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u-dessus de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it-IT"/>
              <a:t>Cliquez et modifiez le titre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Faire glisser l'image vers l'espace réservé ou cliquer sur l'icône pour l'ajouter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3309-0853-F54E-924E-2172BABFAC70}" type="datetime1">
              <a:rPr lang="fr-FR" smtClean="0"/>
              <a:t>04/02/2026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images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it-IT"/>
              <a:t>Cliquez et modifiez le titre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B03309-0853-F54E-924E-2172BABFAC70}" type="datetime1">
              <a:rPr lang="fr-FR" smtClean="0"/>
              <a:t>04/02/2026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it-IT"/>
              <a:t>Faire glisser l'image vers l'espace réservé ou cliquer sur l'icône pour l'ajouter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it-IT"/>
              <a:t>Faire glisser l'image vers l'espace réservé ou cliquer sur l'icône pour l'ajouter</a:t>
            </a:r>
            <a:endParaRPr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images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it-IT"/>
              <a:t>Cliquez et modifiez le titre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B03309-0853-F54E-924E-2172BABFAC70}" type="datetime1">
              <a:rPr lang="fr-FR" smtClean="0"/>
              <a:t>04/02/2026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it-IT"/>
              <a:t>Faire glisser l'image vers l'espace réservé ou cliquer sur l'icône pour l'ajouter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it-IT"/>
              <a:t>Faire glisser l'image vers l'espace réservé ou cliquer sur l'icône pour l'ajouter</a:t>
            </a:r>
            <a:endParaRPr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it-IT"/>
              <a:t>Faire glisser l'image vers l'espace réservé ou cliquer sur l'icône pour l'ajouter</a:t>
            </a:r>
            <a:endParaRPr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images avec légende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it-IT"/>
              <a:t>Cliquez et modifiez le titre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Faire glisser l'image vers l'espace réservé ou cliquer sur l'icône pour l'ajouter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FFB03309-0853-F54E-924E-2172BABFAC70}" type="datetime1">
              <a:rPr lang="fr-FR" smtClean="0"/>
              <a:t>04/02/2026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it-IT"/>
              <a:t>Faire glisser l'image vers l'espace réservé ou cliquer sur l'icône pour l'ajouter</a:t>
            </a:r>
            <a:endParaRPr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it-IT"/>
              <a:t>Faire glisser l'image vers l'espace réservé ou cliquer sur l'icône pour l'ajouter</a:t>
            </a:r>
            <a:endParaRPr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Cliquez et modifiez le titre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it-IT"/>
              <a:t>Cliquez pour modifier les styles du texte du masque</a:t>
            </a:r>
          </a:p>
          <a:p>
            <a:pPr lvl="1"/>
            <a:r>
              <a:rPr lang="it-IT"/>
              <a:t>Deuxième niveau</a:t>
            </a:r>
          </a:p>
          <a:p>
            <a:pPr lvl="2"/>
            <a:r>
              <a:rPr lang="it-IT"/>
              <a:t>Troisième niveau</a:t>
            </a:r>
          </a:p>
          <a:p>
            <a:pPr lvl="3"/>
            <a:r>
              <a:rPr lang="it-IT"/>
              <a:t>Quatrième niveau</a:t>
            </a:r>
          </a:p>
          <a:p>
            <a:pPr lvl="4"/>
            <a:r>
              <a:rPr lang="it-IT"/>
              <a:t>Cinquième niveau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3309-0853-F54E-924E-2172BABFAC70}" type="datetime1">
              <a:rPr lang="fr-FR" smtClean="0"/>
              <a:t>04/02/2026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it-IT"/>
              <a:t>Cliquez et modifiez le titre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it-IT"/>
              <a:t>Cliquez pour modifier les styles du texte du masque</a:t>
            </a:r>
          </a:p>
          <a:p>
            <a:pPr lvl="1"/>
            <a:r>
              <a:rPr lang="it-IT"/>
              <a:t>Deuxième niveau</a:t>
            </a:r>
          </a:p>
          <a:p>
            <a:pPr lvl="2"/>
            <a:r>
              <a:rPr lang="it-IT"/>
              <a:t>Troisième niveau</a:t>
            </a:r>
          </a:p>
          <a:p>
            <a:pPr lvl="3"/>
            <a:r>
              <a:rPr lang="it-IT"/>
              <a:t>Quatrième niveau</a:t>
            </a:r>
          </a:p>
          <a:p>
            <a:pPr lvl="4"/>
            <a:r>
              <a:rPr lang="it-IT"/>
              <a:t>Cinquième niveau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3309-0853-F54E-924E-2172BABFAC70}" type="datetime1">
              <a:rPr lang="fr-FR" smtClean="0"/>
              <a:t>04/02/2026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Cliquez et modifiez le titre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Cliquez pour modifier les styles du texte du masque</a:t>
            </a:r>
          </a:p>
          <a:p>
            <a:pPr lvl="1"/>
            <a:r>
              <a:rPr lang="it-IT"/>
              <a:t>Deuxième niveau</a:t>
            </a:r>
          </a:p>
          <a:p>
            <a:pPr lvl="2"/>
            <a:r>
              <a:rPr lang="it-IT"/>
              <a:t>Troisième niveau</a:t>
            </a:r>
          </a:p>
          <a:p>
            <a:pPr lvl="3"/>
            <a:r>
              <a:rPr lang="it-IT"/>
              <a:t>Quatrième niveau</a:t>
            </a:r>
          </a:p>
          <a:p>
            <a:pPr lvl="4"/>
            <a:r>
              <a:rPr lang="it-IT"/>
              <a:t>Cinquième niveau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FB03309-0853-F54E-924E-2172BABFAC70}" type="datetime1">
              <a:rPr lang="fr-FR" smtClean="0"/>
              <a:t>04/02/2026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5" r:id="rId19"/>
    <p:sldLayoutId id="2147483746" r:id="rId2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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SzPct val="75000"/>
        <a:buFont typeface="Wingdings" pitchFamily="2" charset="2"/>
        <a:buChar char=""/>
        <a:defRPr lang="en-US" sz="1800" kern="1200" baseline="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"/>
        <a:defRPr lang="en-US" sz="1800" kern="1200" baseline="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SzPct val="75000"/>
        <a:buFont typeface="Wingdings" pitchFamily="2" charset="2"/>
        <a:buChar char=""/>
        <a:defRPr lang="en-US" sz="1800" kern="1200" baseline="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6600" dirty="0" err="1"/>
              <a:t>PiDev</a:t>
            </a:r>
            <a:r>
              <a:rPr lang="en-US" sz="6600" dirty="0"/>
              <a:t> 3A – Sprint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870789" y="2964547"/>
            <a:ext cx="6511131" cy="329259"/>
          </a:xfrm>
        </p:spPr>
        <p:txBody>
          <a:bodyPr>
            <a:noAutofit/>
          </a:bodyPr>
          <a:lstStyle/>
          <a:p>
            <a:pPr algn="ctr"/>
            <a:r>
              <a:rPr lang="en-US" sz="7200" dirty="0">
                <a:solidFill>
                  <a:srgbClr val="000000"/>
                </a:solidFill>
              </a:rPr>
              <a:t>Java FX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40763" y="6170613"/>
            <a:ext cx="503237" cy="503237"/>
          </a:xfrm>
        </p:spPr>
        <p:txBody>
          <a:bodyPr/>
          <a:lstStyle/>
          <a:p>
            <a:fld id="{BFEBEB0A-9E3D-4B14-9782-E2AE3DA60D96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4838"/>
            <a:ext cx="2785533" cy="1488495"/>
          </a:xfrm>
          <a:prstGeom prst="rect">
            <a:avLst/>
          </a:prstGeom>
        </p:spPr>
      </p:pic>
      <p:pic>
        <p:nvPicPr>
          <p:cNvPr id="6" name="Picture 2" descr="Javafx_logo_color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23" y="5221111"/>
            <a:ext cx="3627373" cy="1452739"/>
          </a:xfrm>
          <a:prstGeom prst="rect">
            <a:avLst/>
          </a:prstGeom>
          <a:ln w="38100" cap="sq">
            <a:solidFill>
              <a:srgbClr val="AD010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3272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/>
          <p:cNvSpPr txBox="1"/>
          <p:nvPr/>
        </p:nvSpPr>
        <p:spPr>
          <a:xfrm>
            <a:off x="962527" y="379771"/>
            <a:ext cx="71521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L’API </a:t>
            </a:r>
            <a:r>
              <a:rPr lang="en-US" sz="4400" dirty="0" err="1"/>
              <a:t>JavaFX</a:t>
            </a:r>
            <a:endParaRPr lang="en-US" sz="4400" dirty="0"/>
          </a:p>
        </p:txBody>
      </p:sp>
      <p:sp>
        <p:nvSpPr>
          <p:cNvPr id="7" name="TextBox 2"/>
          <p:cNvSpPr txBox="1"/>
          <p:nvPr/>
        </p:nvSpPr>
        <p:spPr>
          <a:xfrm>
            <a:off x="715212" y="1737152"/>
            <a:ext cx="570163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charset="2"/>
              <a:buChar char="§"/>
            </a:pPr>
            <a:r>
              <a:rPr lang="fr-FR" sz="2400" dirty="0"/>
              <a:t>A partir de Mars 2014, c’est l’outil officiel de création d’interfaces graphiques (GUI)</a:t>
            </a:r>
            <a:endParaRPr lang="en-US" sz="2400" dirty="0"/>
          </a:p>
          <a:p>
            <a:pPr marL="285750" indent="-285750">
              <a:buFont typeface="Wingdings" charset="2"/>
              <a:buChar char="§"/>
            </a:pPr>
            <a:endParaRPr lang="en-US" sz="2400" dirty="0"/>
          </a:p>
          <a:p>
            <a:pPr marL="285750" indent="-285750">
              <a:buFont typeface="Wingdings" charset="2"/>
              <a:buChar char="§"/>
            </a:pPr>
            <a:r>
              <a:rPr lang="en-US" sz="2400" dirty="0" err="1"/>
              <a:t>Création</a:t>
            </a:r>
            <a:r>
              <a:rPr lang="en-US" sz="2400" dirty="0"/>
              <a:t> de </a:t>
            </a:r>
            <a:r>
              <a:rPr lang="en-US" sz="2400" dirty="0" err="1"/>
              <a:t>médias</a:t>
            </a:r>
            <a:r>
              <a:rPr lang="en-US" sz="2400" dirty="0"/>
              <a:t> : audio et </a:t>
            </a:r>
            <a:r>
              <a:rPr lang="en-US" sz="2400" dirty="0" err="1"/>
              <a:t>vidéos</a:t>
            </a:r>
            <a:endParaRPr lang="en-US" sz="2400" dirty="0"/>
          </a:p>
          <a:p>
            <a:pPr marL="285750" indent="-285750">
              <a:buFont typeface="Wingdings" charset="2"/>
              <a:buChar char="§"/>
            </a:pPr>
            <a:endParaRPr lang="en-US" sz="2400" dirty="0"/>
          </a:p>
          <a:p>
            <a:pPr marL="285750" indent="-285750">
              <a:buFont typeface="Wingdings" charset="2"/>
              <a:buChar char="§"/>
            </a:pPr>
            <a:r>
              <a:rPr lang="en-US" sz="2400" dirty="0" err="1"/>
              <a:t>Création</a:t>
            </a:r>
            <a:r>
              <a:rPr lang="en-US" sz="2400" dirty="0"/>
              <a:t> des animations 2D/3D</a:t>
            </a:r>
          </a:p>
          <a:p>
            <a:endParaRPr lang="en-US" sz="2400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BFEBEB0A-9E3D-4B14-9782-E2AE3DA60D9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635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00000"/>
                </a:solidFill>
              </a:rPr>
              <a:t>MVC : Model View Controller</a:t>
            </a:r>
          </a:p>
        </p:txBody>
      </p:sp>
      <p:pic>
        <p:nvPicPr>
          <p:cNvPr id="5" name="Content Placeholder 4" descr="mvc.png"/>
          <p:cNvPicPr>
            <a:picLocks noGrp="1" noChangeAspect="1"/>
          </p:cNvPicPr>
          <p:nvPr>
            <p:ph idx="1"/>
          </p:nvPr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778" b="97980" l="1406" r="981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18912" y="1993188"/>
            <a:ext cx="4641010" cy="2871624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4294967295"/>
          </p:nvPr>
        </p:nvSpPr>
        <p:spPr>
          <a:xfrm>
            <a:off x="4502989" y="2080794"/>
            <a:ext cx="4641011" cy="4114800"/>
          </a:xfrm>
        </p:spPr>
        <p:txBody>
          <a:bodyPr>
            <a:noAutofit/>
          </a:bodyPr>
          <a:lstStyle/>
          <a:p>
            <a:r>
              <a:rPr lang="en-US" sz="1800" b="1" u="sng" dirty="0">
                <a:solidFill>
                  <a:schemeClr val="tx1"/>
                </a:solidFill>
                <a:latin typeface="Comic Sans MS"/>
                <a:cs typeface="Comic Sans MS"/>
              </a:rPr>
              <a:t>Model</a:t>
            </a:r>
            <a:r>
              <a:rPr lang="en-US" sz="1800" b="1" dirty="0">
                <a:solidFill>
                  <a:schemeClr val="tx1"/>
                </a:solidFill>
                <a:latin typeface="Comic Sans MS"/>
                <a:cs typeface="Comic Sans MS"/>
              </a:rPr>
              <a:t>: </a:t>
            </a:r>
            <a:r>
              <a:rPr lang="en-US" dirty="0">
                <a:solidFill>
                  <a:schemeClr val="tx1"/>
                </a:solidFill>
                <a:latin typeface="Comic Sans MS"/>
                <a:cs typeface="Comic Sans MS"/>
              </a:rPr>
              <a:t>La structure </a:t>
            </a:r>
            <a:r>
              <a:rPr lang="en-US" dirty="0" err="1">
                <a:solidFill>
                  <a:schemeClr val="tx1"/>
                </a:solidFill>
                <a:latin typeface="Comic Sans MS"/>
                <a:cs typeface="Comic Sans MS"/>
              </a:rPr>
              <a:t>logique</a:t>
            </a:r>
            <a:r>
              <a:rPr lang="en-US" dirty="0">
                <a:solidFill>
                  <a:schemeClr val="tx1"/>
                </a:solidFill>
                <a:latin typeface="Comic Sans MS"/>
                <a:cs typeface="Comic Sans MS"/>
              </a:rPr>
              <a:t> des données</a:t>
            </a: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b="1" u="sng" dirty="0">
                <a:solidFill>
                  <a:schemeClr val="tx1"/>
                </a:solidFill>
                <a:latin typeface="Comic Sans MS"/>
                <a:cs typeface="Comic Sans MS"/>
              </a:rPr>
              <a:t>View: </a:t>
            </a:r>
            <a:r>
              <a:rPr lang="en-US" dirty="0">
                <a:solidFill>
                  <a:schemeClr val="tx1"/>
                </a:solidFill>
                <a:latin typeface="Comic Sans MS"/>
                <a:cs typeface="Comic Sans MS"/>
              </a:rPr>
              <a:t>Les interfaces </a:t>
            </a:r>
            <a:r>
              <a:rPr lang="en-US" dirty="0" err="1">
                <a:solidFill>
                  <a:schemeClr val="tx1"/>
                </a:solidFill>
                <a:latin typeface="Comic Sans MS"/>
                <a:cs typeface="Comic Sans MS"/>
              </a:rPr>
              <a:t>utilisateurs</a:t>
            </a:r>
            <a:r>
              <a:rPr lang="en-US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mic Sans MS"/>
                <a:cs typeface="Comic Sans MS"/>
              </a:rPr>
              <a:t>contenant</a:t>
            </a:r>
            <a:r>
              <a:rPr lang="en-US" dirty="0">
                <a:solidFill>
                  <a:schemeClr val="tx1"/>
                </a:solidFill>
                <a:latin typeface="Comic Sans MS"/>
                <a:cs typeface="Comic Sans MS"/>
              </a:rPr>
              <a:t> des </a:t>
            </a:r>
            <a:r>
              <a:rPr lang="en-US" dirty="0" err="1">
                <a:solidFill>
                  <a:schemeClr val="tx1"/>
                </a:solidFill>
                <a:latin typeface="Comic Sans MS"/>
                <a:cs typeface="Comic Sans MS"/>
              </a:rPr>
              <a:t>éléments</a:t>
            </a:r>
            <a:r>
              <a:rPr lang="en-US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mic Sans MS"/>
                <a:cs typeface="Comic Sans MS"/>
              </a:rPr>
              <a:t>graphiques</a:t>
            </a:r>
            <a:endParaRPr lang="en-US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b="1" u="sng" dirty="0">
                <a:solidFill>
                  <a:schemeClr val="tx1"/>
                </a:solidFill>
                <a:latin typeface="Comic Sans MS"/>
                <a:cs typeface="Comic Sans MS"/>
              </a:rPr>
              <a:t>Controller</a:t>
            </a:r>
            <a:r>
              <a:rPr lang="en-US" sz="1800" b="1" dirty="0">
                <a:solidFill>
                  <a:schemeClr val="tx1"/>
                </a:solidFill>
                <a:latin typeface="Comic Sans MS"/>
                <a:cs typeface="Comic Sans MS"/>
              </a:rPr>
              <a:t>: </a:t>
            </a:r>
            <a:r>
              <a:rPr lang="en-US" dirty="0">
                <a:solidFill>
                  <a:schemeClr val="tx1"/>
                </a:solidFill>
                <a:latin typeface="Comic Sans MS"/>
                <a:cs typeface="Comic Sans MS"/>
              </a:rPr>
              <a:t>A</a:t>
            </a:r>
            <a:r>
              <a:rPr lang="fr-FR" dirty="0" err="1">
                <a:solidFill>
                  <a:schemeClr val="tx1"/>
                </a:solidFill>
                <a:latin typeface="Comic Sans MS"/>
                <a:cs typeface="Comic Sans MS"/>
              </a:rPr>
              <a:t>ssurer</a:t>
            </a:r>
            <a:r>
              <a:rPr lang="fr-FR" dirty="0">
                <a:solidFill>
                  <a:schemeClr val="tx1"/>
                </a:solidFill>
                <a:latin typeface="Comic Sans MS"/>
                <a:cs typeface="Comic Sans MS"/>
              </a:rPr>
              <a:t> la communication entre les Vues et les Modèles</a:t>
            </a:r>
            <a:endParaRPr lang="en-US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049128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Capture d’écran 2015-12-28 à 20.22.03.png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58" b="95812" l="4466" r="9651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921" r="21931"/>
          <a:stretch/>
        </p:blipFill>
        <p:spPr>
          <a:xfrm>
            <a:off x="0" y="912880"/>
            <a:ext cx="6003985" cy="6345238"/>
          </a:xfrm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0326" y="1673525"/>
            <a:ext cx="4196545" cy="2700068"/>
          </a:xfrm>
        </p:spPr>
        <p:txBody>
          <a:bodyPr>
            <a:noAutofit/>
          </a:bodyPr>
          <a:lstStyle/>
          <a:p>
            <a:r>
              <a:rPr lang="en-US" sz="2000" b="1" u="sng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Stage</a:t>
            </a:r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: </a:t>
            </a:r>
            <a:r>
              <a:rPr lang="en-US" sz="2000" dirty="0" err="1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Conteneur</a:t>
            </a:r>
            <a:r>
              <a:rPr lang="en-US" sz="2000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 principal, </a:t>
            </a:r>
            <a:r>
              <a:rPr lang="en-US" sz="2000" dirty="0" err="1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habituellement</a:t>
            </a:r>
            <a:r>
              <a:rPr lang="en-US" sz="2000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une</a:t>
            </a:r>
            <a:r>
              <a:rPr lang="en-US" sz="2000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fenêtre</a:t>
            </a:r>
            <a:r>
              <a:rPr lang="en-US" sz="2000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.</a:t>
            </a:r>
            <a:br>
              <a:rPr lang="en-US" sz="2000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</a:br>
            <a:br>
              <a:rPr lang="en-US" sz="2000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</a:br>
            <a:r>
              <a:rPr lang="en-US" sz="2000" b="1" u="sng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Scene</a:t>
            </a:r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: </a:t>
            </a:r>
            <a:r>
              <a:rPr lang="en-US" sz="2000" dirty="0" err="1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Conteneur</a:t>
            </a:r>
            <a:r>
              <a:rPr lang="en-US" sz="2000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 des UI elements, </a:t>
            </a:r>
            <a:r>
              <a:rPr lang="en-US" sz="2000" dirty="0" err="1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associé</a:t>
            </a:r>
            <a:r>
              <a:rPr lang="en-US" sz="2000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 à un Stage.</a:t>
            </a:r>
            <a:br>
              <a:rPr lang="en-US" sz="2000" dirty="0">
                <a:solidFill>
                  <a:schemeClr val="tx1"/>
                </a:solidFill>
                <a:latin typeface="Comic Sans MS" panose="030F0702030302020204" pitchFamily="66" charset="0"/>
                <a:cs typeface="Calibri"/>
              </a:rPr>
            </a:br>
            <a:br>
              <a:rPr lang="en-US" sz="2000" dirty="0">
                <a:solidFill>
                  <a:schemeClr val="tx1"/>
                </a:solidFill>
                <a:latin typeface="Comic Sans MS" panose="030F0702030302020204" pitchFamily="66" charset="0"/>
                <a:cs typeface="Calibri"/>
              </a:rPr>
            </a:br>
            <a:endParaRPr lang="en-US" sz="2000" dirty="0">
              <a:solidFill>
                <a:schemeClr val="tx1"/>
              </a:solidFill>
              <a:latin typeface="Comic Sans MS" panose="030F0702030302020204" pitchFamily="66" charset="0"/>
              <a:cs typeface="Calibri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965960" y="-17523"/>
            <a:ext cx="5212080" cy="108942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6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rgbClr val="000000"/>
                </a:solidFill>
              </a:rPr>
              <a:t>Stage VS Scene</a:t>
            </a:r>
          </a:p>
        </p:txBody>
      </p:sp>
    </p:spTree>
    <p:extLst>
      <p:ext uri="{BB962C8B-B14F-4D97-AF65-F5344CB8AC3E}">
        <p14:creationId xmlns:p14="http://schemas.microsoft.com/office/powerpoint/2010/main" val="2511225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 txBox="1">
            <a:spLocks noGrp="1"/>
          </p:cNvSpPr>
          <p:nvPr>
            <p:ph type="title"/>
          </p:nvPr>
        </p:nvSpPr>
        <p:spPr>
          <a:xfrm>
            <a:off x="742278" y="222638"/>
            <a:ext cx="64550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GUI Java FX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2278" y="2786422"/>
            <a:ext cx="3657600" cy="40715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&lt;Button </a:t>
            </a:r>
            <a:r>
              <a:rPr lang="en-US" dirty="0">
                <a:solidFill>
                  <a:srgbClr val="008000"/>
                </a:solidFill>
              </a:rPr>
              <a:t>id</a:t>
            </a:r>
            <a:r>
              <a:rPr lang="en-US" dirty="0"/>
              <a:t>=</a:t>
            </a:r>
            <a:r>
              <a:rPr lang="en-US" dirty="0">
                <a:solidFill>
                  <a:srgbClr val="FF6600"/>
                </a:solidFill>
              </a:rPr>
              <a:t>"</a:t>
            </a:r>
            <a:r>
              <a:rPr lang="en-US" dirty="0" err="1">
                <a:solidFill>
                  <a:srgbClr val="FF6600"/>
                </a:solidFill>
              </a:rPr>
              <a:t>valider</a:t>
            </a:r>
            <a:r>
              <a:rPr lang="en-US" dirty="0">
                <a:solidFill>
                  <a:srgbClr val="FF6600"/>
                </a:solidFill>
              </a:rPr>
              <a:t>" </a:t>
            </a:r>
            <a:r>
              <a:rPr lang="en-US" dirty="0" err="1">
                <a:solidFill>
                  <a:srgbClr val="008000"/>
                </a:solidFill>
              </a:rPr>
              <a:t>fx:id</a:t>
            </a:r>
            <a:r>
              <a:rPr lang="en-US" dirty="0"/>
              <a:t>=</a:t>
            </a:r>
            <a:r>
              <a:rPr lang="en-US" dirty="0">
                <a:solidFill>
                  <a:srgbClr val="FF6600"/>
                </a:solidFill>
              </a:rPr>
              <a:t>"</a:t>
            </a:r>
            <a:r>
              <a:rPr lang="en-US" dirty="0" err="1">
                <a:solidFill>
                  <a:srgbClr val="FF6600"/>
                </a:solidFill>
              </a:rPr>
              <a:t>btn</a:t>
            </a:r>
            <a:r>
              <a:rPr lang="en-US" dirty="0">
                <a:solidFill>
                  <a:srgbClr val="FF6600"/>
                </a:solidFill>
              </a:rPr>
              <a:t>” </a:t>
            </a:r>
            <a:r>
              <a:rPr lang="en-US" dirty="0" err="1">
                <a:solidFill>
                  <a:srgbClr val="008000"/>
                </a:solidFill>
              </a:rPr>
              <a:t>layoutX</a:t>
            </a:r>
            <a:r>
              <a:rPr lang="en-US" dirty="0"/>
              <a:t>=</a:t>
            </a:r>
            <a:r>
              <a:rPr lang="en-US" dirty="0">
                <a:solidFill>
                  <a:srgbClr val="FF6600"/>
                </a:solidFill>
              </a:rPr>
              <a:t>"405” </a:t>
            </a:r>
            <a:r>
              <a:rPr lang="en-US" dirty="0" err="1">
                <a:solidFill>
                  <a:srgbClr val="008000"/>
                </a:solidFill>
              </a:rPr>
              <a:t>layoutY</a:t>
            </a:r>
            <a:r>
              <a:rPr lang="en-US" dirty="0"/>
              <a:t>=</a:t>
            </a:r>
            <a:r>
              <a:rPr lang="en-US" dirty="0">
                <a:solidFill>
                  <a:srgbClr val="FF6600"/>
                </a:solidFill>
              </a:rPr>
              <a:t>"274” </a:t>
            </a:r>
            <a:r>
              <a:rPr lang="en-US" dirty="0">
                <a:solidFill>
                  <a:srgbClr val="008000"/>
                </a:solidFill>
              </a:rPr>
              <a:t>text</a:t>
            </a:r>
            <a:r>
              <a:rPr lang="en-US" dirty="0">
                <a:solidFill>
                  <a:schemeClr val="tx1"/>
                </a:solidFill>
              </a:rPr>
              <a:t>=</a:t>
            </a:r>
            <a:r>
              <a:rPr lang="en-US" dirty="0">
                <a:solidFill>
                  <a:srgbClr val="FF6600"/>
                </a:solidFill>
              </a:rPr>
              <a:t>"</a:t>
            </a:r>
            <a:r>
              <a:rPr lang="en-US" dirty="0" err="1">
                <a:solidFill>
                  <a:srgbClr val="FF6600"/>
                </a:solidFill>
              </a:rPr>
              <a:t>Valider</a:t>
            </a:r>
            <a:r>
              <a:rPr lang="en-US" dirty="0">
                <a:solidFill>
                  <a:srgbClr val="FF6600"/>
                </a:solidFill>
              </a:rPr>
              <a:t>”</a:t>
            </a:r>
            <a:r>
              <a:rPr lang="en-US" dirty="0">
                <a:solidFill>
                  <a:srgbClr val="0000FF"/>
                </a:solidFill>
              </a:rPr>
              <a:t>&gt;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0000FF"/>
                </a:solidFill>
              </a:rPr>
              <a:t>&lt;font&gt;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&lt;Font </a:t>
            </a:r>
            <a:r>
              <a:rPr lang="en-US" dirty="0">
                <a:solidFill>
                  <a:srgbClr val="008000"/>
                </a:solidFill>
              </a:rPr>
              <a:t>size</a:t>
            </a:r>
            <a:r>
              <a:rPr lang="en-US" dirty="0"/>
              <a:t>=</a:t>
            </a:r>
            <a:r>
              <a:rPr lang="en-US" dirty="0">
                <a:solidFill>
                  <a:srgbClr val="FF6600"/>
                </a:solidFill>
              </a:rPr>
              <a:t>"14.0"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</a:rPr>
              <a:t>/&gt;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>
                <a:solidFill>
                  <a:srgbClr val="0000FF"/>
                </a:solidFill>
              </a:rPr>
              <a:t>&lt;/font&gt;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 &lt;/Button&gt;</a:t>
            </a:r>
          </a:p>
          <a:p>
            <a:pPr marL="0" indent="0">
              <a:buNone/>
            </a:pPr>
            <a:r>
              <a:rPr lang="en-US" b="1" i="1" dirty="0" err="1"/>
              <a:t>Dans</a:t>
            </a:r>
            <a:r>
              <a:rPr lang="en-US" b="1" i="1" dirty="0"/>
              <a:t> un </a:t>
            </a:r>
            <a:r>
              <a:rPr lang="en-US" b="1" i="1" dirty="0" err="1"/>
              <a:t>fichier</a:t>
            </a:r>
            <a:r>
              <a:rPr lang="en-US" b="1" i="1" dirty="0"/>
              <a:t> “.</a:t>
            </a:r>
            <a:r>
              <a:rPr lang="en-US" b="1" i="1" dirty="0" err="1"/>
              <a:t>fxml</a:t>
            </a:r>
            <a:r>
              <a:rPr lang="en-US" b="1" i="1" dirty="0"/>
              <a:t>”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2542819"/>
            <a:ext cx="3657600" cy="39512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Button </a:t>
            </a:r>
            <a:r>
              <a:rPr lang="en-US" dirty="0" err="1"/>
              <a:t>btn</a:t>
            </a:r>
            <a:r>
              <a:rPr lang="en-US" dirty="0"/>
              <a:t> = </a:t>
            </a:r>
            <a:r>
              <a:rPr lang="en-US" dirty="0">
                <a:solidFill>
                  <a:srgbClr val="0000FF"/>
                </a:solidFill>
              </a:rPr>
              <a:t>new</a:t>
            </a:r>
            <a:r>
              <a:rPr lang="en-US" dirty="0"/>
              <a:t> Button();</a:t>
            </a:r>
          </a:p>
          <a:p>
            <a:pPr marL="0" indent="0">
              <a:buNone/>
            </a:pPr>
            <a:r>
              <a:rPr lang="en-US" dirty="0" err="1"/>
              <a:t>btn.setText</a:t>
            </a:r>
            <a:r>
              <a:rPr lang="en-US" dirty="0"/>
              <a:t>(</a:t>
            </a:r>
            <a:r>
              <a:rPr lang="en-US" dirty="0">
                <a:solidFill>
                  <a:srgbClr val="FF6600"/>
                </a:solidFill>
              </a:rPr>
              <a:t>"Say 'Hello World"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600" b="1" i="1" dirty="0"/>
          </a:p>
          <a:p>
            <a:pPr marL="0" indent="0">
              <a:buNone/>
            </a:pPr>
            <a:r>
              <a:rPr lang="en-US" b="1" i="1" dirty="0" err="1"/>
              <a:t>Dans</a:t>
            </a:r>
            <a:r>
              <a:rPr lang="en-US" b="1" i="1" dirty="0"/>
              <a:t> un </a:t>
            </a:r>
            <a:r>
              <a:rPr lang="en-US" b="1" i="1" dirty="0" err="1"/>
              <a:t>fichier</a:t>
            </a:r>
            <a:r>
              <a:rPr lang="en-US" b="1" i="1" dirty="0"/>
              <a:t> “.java”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1763222"/>
            <a:ext cx="3657600" cy="322729"/>
          </a:xfrm>
        </p:spPr>
        <p:txBody>
          <a:bodyPr/>
          <a:lstStyle/>
          <a:p>
            <a:pPr algn="ctr"/>
            <a:r>
              <a:rPr lang="en-US" dirty="0"/>
              <a:t>XML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1763222"/>
            <a:ext cx="3657600" cy="322729"/>
          </a:xfrm>
        </p:spPr>
        <p:txBody>
          <a:bodyPr/>
          <a:lstStyle/>
          <a:p>
            <a:pPr algn="ctr"/>
            <a:r>
              <a:rPr lang="en-US" dirty="0"/>
              <a:t>Avec Java</a:t>
            </a:r>
          </a:p>
        </p:txBody>
      </p:sp>
    </p:spTree>
    <p:extLst>
      <p:ext uri="{BB962C8B-B14F-4D97-AF65-F5344CB8AC3E}">
        <p14:creationId xmlns:p14="http://schemas.microsoft.com/office/powerpoint/2010/main" val="1488474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Hello World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5377703"/>
            <a:ext cx="4267200" cy="933450"/>
          </a:xfrm>
        </p:spPr>
        <p:txBody>
          <a:bodyPr>
            <a:noAutofit/>
          </a:bodyPr>
          <a:lstStyle/>
          <a:p>
            <a:r>
              <a:rPr lang="en-US" sz="2000" dirty="0" err="1"/>
              <a:t>Téléchargez</a:t>
            </a:r>
            <a:r>
              <a:rPr lang="en-US" sz="2000" dirty="0"/>
              <a:t> </a:t>
            </a:r>
            <a:r>
              <a:rPr lang="en-US" sz="2000" dirty="0" err="1"/>
              <a:t>SceneBuilder</a:t>
            </a:r>
            <a:r>
              <a:rPr lang="en-US" sz="2000" dirty="0"/>
              <a:t> de : </a:t>
            </a:r>
          </a:p>
          <a:p>
            <a:r>
              <a:rPr lang="en-US" sz="2000" dirty="0">
                <a:solidFill>
                  <a:srgbClr val="660066"/>
                </a:solidFill>
              </a:rPr>
              <a:t>http://</a:t>
            </a:r>
            <a:r>
              <a:rPr lang="en-US" sz="2000" dirty="0" err="1">
                <a:solidFill>
                  <a:srgbClr val="660066"/>
                </a:solidFill>
              </a:rPr>
              <a:t>gluonhq.com</a:t>
            </a:r>
            <a:r>
              <a:rPr lang="en-US" sz="2000" dirty="0">
                <a:solidFill>
                  <a:srgbClr val="660066"/>
                </a:solidFill>
              </a:rPr>
              <a:t>/open-source/scene-builder/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40763" y="6170613"/>
            <a:ext cx="503237" cy="503237"/>
          </a:xfrm>
        </p:spPr>
        <p:txBody>
          <a:bodyPr/>
          <a:lstStyle/>
          <a:p>
            <a:fld id="{BFEBEB0A-9E3D-4B14-9782-E2AE3DA60D9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923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IntelliJ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031717" y="-201214"/>
            <a:ext cx="4489826" cy="7750664"/>
          </a:xfrm>
        </p:spPr>
        <p:txBody>
          <a:bodyPr>
            <a:normAutofit fontScale="85000" lnSpcReduction="20000"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NB: Vous devez télécharger la dernière version de l’IDE </a:t>
            </a:r>
            <a:r>
              <a:rPr lang="fr-FR" sz="2000" dirty="0" err="1">
                <a:solidFill>
                  <a:srgbClr val="FF0000"/>
                </a:solidFill>
              </a:rPr>
              <a:t>IntelliJ</a:t>
            </a:r>
            <a:endParaRPr lang="fr-FR" sz="2000" dirty="0">
              <a:solidFill>
                <a:srgbClr val="FF0000"/>
              </a:solidFill>
            </a:endParaRPr>
          </a:p>
          <a:p>
            <a:endParaRPr lang="fr-FR" dirty="0">
              <a:solidFill>
                <a:srgbClr val="FF0000"/>
              </a:solidFill>
            </a:endParaRPr>
          </a:p>
          <a:p>
            <a:r>
              <a:rPr lang="fr-FR" sz="2000" dirty="0">
                <a:solidFill>
                  <a:schemeClr val="tx1"/>
                </a:solidFill>
              </a:rPr>
              <a:t>File-&gt; Settings</a:t>
            </a:r>
            <a:r>
              <a:rPr lang="fr-FR" dirty="0">
                <a:solidFill>
                  <a:schemeClr val="tx1"/>
                </a:solidFill>
              </a:rPr>
              <a:t> -&gt; </a:t>
            </a:r>
            <a:r>
              <a:rPr lang="fr-FR" dirty="0" err="1">
                <a:solidFill>
                  <a:schemeClr val="tx1"/>
                </a:solidFill>
              </a:rPr>
              <a:t>Languages</a:t>
            </a:r>
            <a:r>
              <a:rPr lang="fr-FR" dirty="0">
                <a:solidFill>
                  <a:schemeClr val="tx1"/>
                </a:solidFill>
              </a:rPr>
              <a:t> &amp; </a:t>
            </a:r>
            <a:r>
              <a:rPr lang="fr-FR" dirty="0" err="1">
                <a:solidFill>
                  <a:schemeClr val="tx1"/>
                </a:solidFill>
              </a:rPr>
              <a:t>Frameworks</a:t>
            </a:r>
            <a:endParaRPr lang="fr-FR" dirty="0">
              <a:solidFill>
                <a:schemeClr val="tx1"/>
              </a:solidFill>
            </a:endParaRPr>
          </a:p>
          <a:p>
            <a:endParaRPr lang="fr-FR" sz="2000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Spécifiez le chemin d’installation vers le logiciel « </a:t>
            </a:r>
            <a:r>
              <a:rPr lang="fr-FR" dirty="0" err="1">
                <a:solidFill>
                  <a:schemeClr val="tx1"/>
                </a:solidFill>
              </a:rPr>
              <a:t>SceneBuilder</a:t>
            </a:r>
            <a:r>
              <a:rPr lang="fr-FR" dirty="0">
                <a:solidFill>
                  <a:schemeClr val="tx1"/>
                </a:solidFill>
              </a:rPr>
              <a:t> »</a:t>
            </a:r>
          </a:p>
          <a:p>
            <a:pPr marL="0" indent="0">
              <a:buNone/>
            </a:pPr>
            <a:endParaRPr lang="fr-FR" sz="2000" dirty="0">
              <a:solidFill>
                <a:schemeClr val="tx1"/>
              </a:solidFill>
            </a:endParaRPr>
          </a:p>
          <a:p>
            <a:r>
              <a:rPr lang="fr-FR" sz="2000" dirty="0">
                <a:solidFill>
                  <a:schemeClr val="tx1"/>
                </a:solidFill>
              </a:rPr>
              <a:t>Ouvrez le fichier « pom.xml » de votre projet.</a:t>
            </a:r>
          </a:p>
          <a:p>
            <a:endParaRPr lang="fr-FR" sz="2000" dirty="0">
              <a:solidFill>
                <a:schemeClr val="tx1"/>
              </a:solidFill>
            </a:endParaRPr>
          </a:p>
          <a:p>
            <a:r>
              <a:rPr lang="fr-FR" sz="2000" dirty="0">
                <a:solidFill>
                  <a:schemeClr val="tx1"/>
                </a:solidFill>
              </a:rPr>
              <a:t>Faites un clic droit sur le fichier et sélectionnez l'option « </a:t>
            </a:r>
            <a:r>
              <a:rPr lang="fr-FR" sz="2000" dirty="0" err="1">
                <a:solidFill>
                  <a:schemeClr val="tx1"/>
                </a:solidFill>
              </a:rPr>
              <a:t>Generate</a:t>
            </a:r>
            <a:r>
              <a:rPr lang="fr-FR" sz="2000" dirty="0">
                <a:solidFill>
                  <a:schemeClr val="tx1"/>
                </a:solidFill>
              </a:rPr>
              <a:t> …» dans le menu contextuel.</a:t>
            </a:r>
          </a:p>
          <a:p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885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6B8FE-F7AF-A019-073F-FB61DDB9C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A0C92-3196-A721-FDA0-E7020AA07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IntelliJ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A5C515-AD3D-415F-E39F-E791CFF30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 rot="16200000">
            <a:off x="2031717" y="-201214"/>
            <a:ext cx="4489826" cy="7750664"/>
          </a:xfrm>
        </p:spPr>
        <p:txBody>
          <a:bodyPr>
            <a:normAutofit fontScale="92500" lnSpcReduction="20000"/>
          </a:bodyPr>
          <a:lstStyle/>
          <a:p>
            <a:pPr marL="457200" marR="0" lvl="0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000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Choisissez </a:t>
            </a:r>
            <a:r>
              <a:rPr lang="fr-FR" sz="2000" b="1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« </a:t>
            </a:r>
            <a:r>
              <a:rPr lang="fr-FR" sz="2000" b="1" dirty="0" err="1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Dependency</a:t>
            </a:r>
            <a:r>
              <a:rPr lang="fr-FR" sz="2000" b="1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 » </a:t>
            </a:r>
            <a:r>
              <a:rPr lang="fr-FR" sz="2000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dans la liste des options. Cela ouvrira une fenêtre intitulée </a:t>
            </a:r>
            <a:r>
              <a:rPr lang="fr-FR" sz="2000" b="1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« Maven </a:t>
            </a:r>
            <a:r>
              <a:rPr lang="fr-FR" sz="2000" b="1" dirty="0" err="1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Artifact</a:t>
            </a:r>
            <a:r>
              <a:rPr lang="fr-FR" sz="2000" b="1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 </a:t>
            </a:r>
            <a:r>
              <a:rPr lang="fr-FR" sz="2000" b="1" dirty="0" err="1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Search</a:t>
            </a:r>
            <a:r>
              <a:rPr lang="fr-FR" sz="2000" b="1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 »</a:t>
            </a:r>
            <a:r>
              <a:rPr lang="fr-FR" sz="2000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457200" marR="0" lvl="0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000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Dans l'onglet </a:t>
            </a:r>
            <a:r>
              <a:rPr lang="fr-FR" sz="2000" b="1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« </a:t>
            </a:r>
            <a:r>
              <a:rPr lang="fr-FR" sz="2000" b="1" dirty="0" err="1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Search</a:t>
            </a:r>
            <a:r>
              <a:rPr lang="fr-FR" sz="2000" b="1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 For </a:t>
            </a:r>
            <a:r>
              <a:rPr lang="fr-FR" sz="2000" b="1" dirty="0" err="1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Artifact</a:t>
            </a:r>
            <a:r>
              <a:rPr lang="fr-FR" sz="2000" b="1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 »</a:t>
            </a:r>
            <a:r>
              <a:rPr lang="fr-FR" sz="2000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, saisissez </a:t>
            </a:r>
            <a:r>
              <a:rPr lang="fr-FR" sz="2000" b="1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«</a:t>
            </a:r>
            <a:r>
              <a:rPr lang="fr-FR" sz="2000" b="1" dirty="0" err="1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org.openjfx:javafx-fxml</a:t>
            </a:r>
            <a:r>
              <a:rPr lang="fr-FR" sz="2000" b="1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» </a:t>
            </a:r>
            <a:r>
              <a:rPr lang="fr-FR" sz="2000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et choisissez la dernière version disponible.</a:t>
            </a:r>
          </a:p>
          <a:p>
            <a:pPr marL="457200" indent="-381000">
              <a:lnSpc>
                <a:spcPct val="150000"/>
              </a:lnSpc>
              <a:spcBef>
                <a:spcPts val="500"/>
              </a:spcBef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000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Dans l'onglet </a:t>
            </a:r>
            <a:r>
              <a:rPr lang="fr-FR" sz="2000" b="1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« </a:t>
            </a:r>
            <a:r>
              <a:rPr lang="fr-FR" sz="2000" b="1" dirty="0" err="1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Search</a:t>
            </a:r>
            <a:r>
              <a:rPr lang="fr-FR" sz="2000" b="1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 For </a:t>
            </a:r>
            <a:r>
              <a:rPr lang="fr-FR" sz="2000" b="1" dirty="0" err="1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Artifact</a:t>
            </a:r>
            <a:r>
              <a:rPr lang="fr-FR" sz="2000" b="1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 »</a:t>
            </a:r>
            <a:r>
              <a:rPr lang="fr-FR" sz="2000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, saisissez </a:t>
            </a:r>
            <a:r>
              <a:rPr lang="fr-FR" sz="2000" b="1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«</a:t>
            </a:r>
            <a:r>
              <a:rPr lang="fr-FR" sz="2000" b="1" dirty="0" err="1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org.openjfx:javafx-controls</a:t>
            </a:r>
            <a:r>
              <a:rPr lang="fr-FR" sz="2000" b="1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» </a:t>
            </a:r>
            <a:r>
              <a:rPr lang="fr-FR" sz="2000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et choisissez la dernière version disponible.</a:t>
            </a:r>
          </a:p>
          <a:p>
            <a:pPr marL="457200" marR="0" lvl="0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000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Appuyez sur le bouton </a:t>
            </a:r>
            <a:r>
              <a:rPr lang="fr-FR" sz="2000" b="1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« </a:t>
            </a:r>
            <a:r>
              <a:rPr lang="fr-FR" sz="2000" b="1" dirty="0" err="1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Load</a:t>
            </a:r>
            <a:r>
              <a:rPr lang="fr-FR" sz="2000" b="1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 Maven Changes » </a:t>
            </a:r>
            <a:r>
              <a:rPr lang="fr-FR" sz="2000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pour télécharger et installer automatiquement la bibliothèque dans votre projet.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ACB731-FD4E-68DE-7A3F-7AA7D2027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" name="Picture 3" descr="A blue and black text&#10;&#10;Description automatically generated">
            <a:extLst>
              <a:ext uri="{FF2B5EF4-FFF2-40B4-BE49-F238E27FC236}">
                <a16:creationId xmlns:a16="http://schemas.microsoft.com/office/drawing/2014/main" id="{AAA9A512-EC66-496C-9E81-BC142E1315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61" t="24828" b="17837"/>
          <a:stretch/>
        </p:blipFill>
        <p:spPr>
          <a:xfrm>
            <a:off x="2453221" y="5558548"/>
            <a:ext cx="714062" cy="360484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430388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5C9F1-008D-3E95-4DCC-0760E6D1A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382E7-51A8-A7F9-BEE1-3948722AC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IntelliJ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1E7EB6-B356-AEAD-FE36-59EE757897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 rot="16200000">
            <a:off x="2031717" y="-201214"/>
            <a:ext cx="4489826" cy="7750664"/>
          </a:xfrm>
        </p:spPr>
        <p:txBody>
          <a:bodyPr>
            <a:normAutofit/>
          </a:bodyPr>
          <a:lstStyle/>
          <a:p>
            <a:r>
              <a:rPr lang="fr-FR" sz="1700" dirty="0">
                <a:solidFill>
                  <a:schemeClr val="tx1"/>
                </a:solidFill>
              </a:rPr>
              <a:t>Faites un clic droit sur le le dossier « </a:t>
            </a:r>
            <a:r>
              <a:rPr lang="fr-FR" sz="1700" dirty="0" err="1">
                <a:solidFill>
                  <a:schemeClr val="tx1"/>
                </a:solidFill>
              </a:rPr>
              <a:t>Resources</a:t>
            </a:r>
            <a:r>
              <a:rPr lang="fr-FR" sz="1700" dirty="0">
                <a:solidFill>
                  <a:schemeClr val="tx1"/>
                </a:solidFill>
              </a:rPr>
              <a:t> », et créez un nouveau fichier </a:t>
            </a:r>
            <a:r>
              <a:rPr lang="fr-FR" sz="1700" b="1" dirty="0" err="1">
                <a:solidFill>
                  <a:schemeClr val="tx1"/>
                </a:solidFill>
              </a:rPr>
              <a:t>fxml</a:t>
            </a:r>
            <a:endParaRPr lang="fr-FR" sz="1700" b="1" dirty="0">
              <a:solidFill>
                <a:schemeClr val="tx1"/>
              </a:solidFill>
            </a:endParaRPr>
          </a:p>
          <a:p>
            <a:endParaRPr lang="fr-FR" sz="1700" b="1" dirty="0">
              <a:solidFill>
                <a:schemeClr val="tx1"/>
              </a:solidFill>
            </a:endParaRPr>
          </a:p>
          <a:p>
            <a:r>
              <a:rPr lang="fr-FR" sz="1700" dirty="0">
                <a:solidFill>
                  <a:schemeClr val="tx1"/>
                </a:solidFill>
              </a:rPr>
              <a:t>Faites un clic droit sur le fichier </a:t>
            </a:r>
            <a:r>
              <a:rPr lang="fr-FR" sz="1700" dirty="0" err="1">
                <a:solidFill>
                  <a:schemeClr val="tx1"/>
                </a:solidFill>
              </a:rPr>
              <a:t>fxml</a:t>
            </a:r>
            <a:r>
              <a:rPr lang="fr-FR" sz="1700" dirty="0">
                <a:solidFill>
                  <a:schemeClr val="tx1"/>
                </a:solidFill>
              </a:rPr>
              <a:t>, et choisissez l’option « Open in </a:t>
            </a:r>
            <a:r>
              <a:rPr lang="fr-FR" sz="1700" dirty="0" err="1">
                <a:solidFill>
                  <a:schemeClr val="tx1"/>
                </a:solidFill>
              </a:rPr>
              <a:t>Scene</a:t>
            </a:r>
            <a:r>
              <a:rPr lang="fr-FR" sz="1700" dirty="0">
                <a:solidFill>
                  <a:schemeClr val="tx1"/>
                </a:solidFill>
              </a:rPr>
              <a:t> Builder »</a:t>
            </a:r>
          </a:p>
          <a:p>
            <a:pPr marL="0" indent="0">
              <a:buNone/>
            </a:pPr>
            <a:endParaRPr lang="fr-FR" sz="17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503D67-3996-A002-0269-3F6B19A4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879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7B16A-5FB9-64A8-A38B-B736A9B9A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24BC4-3912-5E93-349D-97000DFE3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IntelliJ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0F044A-6631-AF4F-148C-332B0AFB8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 rot="16200000">
            <a:off x="1713195" y="117308"/>
            <a:ext cx="5126870" cy="7750664"/>
          </a:xfrm>
        </p:spPr>
        <p:txBody>
          <a:bodyPr>
            <a:normAutofit fontScale="92500" lnSpcReduction="20000"/>
          </a:bodyPr>
          <a:lstStyle/>
          <a:p>
            <a:r>
              <a:rPr lang="fr-FR" sz="1700" dirty="0">
                <a:solidFill>
                  <a:srgbClr val="C00000"/>
                </a:solidFill>
              </a:rPr>
              <a:t>Exécution:</a:t>
            </a:r>
          </a:p>
          <a:p>
            <a:r>
              <a:rPr lang="fr-FR" sz="1700" dirty="0">
                <a:solidFill>
                  <a:schemeClr val="tx1"/>
                </a:solidFill>
              </a:rPr>
              <a:t>Ajoutez ce code dans votre fichier « pom.xml »</a:t>
            </a:r>
          </a:p>
          <a:p>
            <a:endParaRPr lang="fr-FR" sz="1700" dirty="0">
              <a:solidFill>
                <a:schemeClr val="tx1"/>
              </a:solidFill>
            </a:endParaRPr>
          </a:p>
          <a:p>
            <a:endParaRPr lang="fr-FR" sz="1700" dirty="0">
              <a:solidFill>
                <a:schemeClr val="tx1"/>
              </a:solidFill>
            </a:endParaRPr>
          </a:p>
          <a:p>
            <a:endParaRPr lang="fr-FR" sz="1700" dirty="0">
              <a:solidFill>
                <a:schemeClr val="tx1"/>
              </a:solidFill>
            </a:endParaRPr>
          </a:p>
          <a:p>
            <a:endParaRPr lang="fr-FR" sz="1700" dirty="0">
              <a:solidFill>
                <a:schemeClr val="tx1"/>
              </a:solidFill>
            </a:endParaRPr>
          </a:p>
          <a:p>
            <a:endParaRPr lang="fr-FR" sz="1700" dirty="0">
              <a:solidFill>
                <a:schemeClr val="tx1"/>
              </a:solidFill>
            </a:endParaRPr>
          </a:p>
          <a:p>
            <a:endParaRPr lang="fr-FR" sz="1700" dirty="0">
              <a:solidFill>
                <a:schemeClr val="tx1"/>
              </a:solidFill>
            </a:endParaRPr>
          </a:p>
          <a:p>
            <a:endParaRPr lang="fr-FR" sz="1700" dirty="0">
              <a:solidFill>
                <a:schemeClr val="tx1"/>
              </a:solidFill>
            </a:endParaRPr>
          </a:p>
          <a:p>
            <a:r>
              <a:rPr lang="fr-FR" sz="1700" dirty="0">
                <a:solidFill>
                  <a:schemeClr val="tx1"/>
                </a:solidFill>
              </a:rPr>
              <a:t>Remplacez « </a:t>
            </a:r>
            <a:r>
              <a:rPr lang="fr-FR" sz="1700" dirty="0" err="1">
                <a:solidFill>
                  <a:schemeClr val="tx1"/>
                </a:solidFill>
              </a:rPr>
              <a:t>MainFX</a:t>
            </a:r>
            <a:r>
              <a:rPr lang="fr-FR" sz="1700" dirty="0">
                <a:solidFill>
                  <a:schemeClr val="tx1"/>
                </a:solidFill>
              </a:rPr>
              <a:t> » par le nom de votre classe principale</a:t>
            </a:r>
          </a:p>
          <a:p>
            <a:r>
              <a:rPr lang="fr-FR" sz="1800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Appuyez sur le bouton </a:t>
            </a:r>
            <a:r>
              <a:rPr lang="fr-FR" sz="1800" b="1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« </a:t>
            </a:r>
            <a:r>
              <a:rPr lang="fr-FR" sz="1800" b="1" dirty="0" err="1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Load</a:t>
            </a:r>
            <a:r>
              <a:rPr lang="fr-FR" sz="1800" b="1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 Maven Changes » </a:t>
            </a:r>
            <a:r>
              <a:rPr lang="fr-FR" sz="1800" dirty="0">
                <a:solidFill>
                  <a:schemeClr val="dk1"/>
                </a:solidFill>
                <a:ea typeface="Times New Roman"/>
                <a:cs typeface="Times New Roman"/>
                <a:sym typeface="Times New Roman"/>
              </a:rPr>
              <a:t>pour télécharger et installer automatiquement la bibliothèque dans votre projet.</a:t>
            </a:r>
          </a:p>
          <a:p>
            <a:endParaRPr lang="fr-FR" sz="1700" dirty="0">
              <a:solidFill>
                <a:schemeClr val="tx1"/>
              </a:solidFill>
            </a:endParaRPr>
          </a:p>
          <a:p>
            <a:endParaRPr lang="fr-FR" sz="1700" dirty="0">
              <a:solidFill>
                <a:schemeClr val="tx1"/>
              </a:solidFill>
            </a:endParaRPr>
          </a:p>
          <a:p>
            <a:endParaRPr lang="fr-FR" sz="17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DEC9BA-DF78-ED02-7C18-02057374B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001FF5-0D23-434B-5C00-355C2D85394E}"/>
              </a:ext>
            </a:extLst>
          </p:cNvPr>
          <p:cNvSpPr txBox="1"/>
          <p:nvPr/>
        </p:nvSpPr>
        <p:spPr>
          <a:xfrm>
            <a:off x="1984074" y="7201783"/>
            <a:ext cx="6027579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1CD0F3B3-A899-9725-7A57-B9F361477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7456" y="2245907"/>
            <a:ext cx="5645819" cy="3046988"/>
          </a:xfrm>
          <a:prstGeom prst="rect">
            <a:avLst/>
          </a:prstGeom>
          <a:solidFill>
            <a:srgbClr val="FFFFFF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&lt;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22863A"/>
                </a:solidFill>
                <a:effectLst/>
                <a:latin typeface="JetBrains Mono"/>
              </a:rPr>
              <a:t>build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&gt;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    &lt;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2863A"/>
                </a:solidFill>
                <a:effectLst/>
                <a:latin typeface="JetBrains Mono"/>
              </a:rPr>
              <a:t>plugins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&gt;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        &lt;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2863A"/>
                </a:solidFill>
                <a:effectLst/>
                <a:latin typeface="JetBrains Mono"/>
              </a:rPr>
              <a:t>plugin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&gt;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            &lt;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22863A"/>
                </a:solidFill>
                <a:effectLst/>
                <a:latin typeface="JetBrains Mono"/>
              </a:rPr>
              <a:t>groupId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&gt;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org.openjfx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&lt;/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22863A"/>
                </a:solidFill>
                <a:effectLst/>
                <a:latin typeface="JetBrains Mono"/>
              </a:rPr>
              <a:t>groupId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&gt;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            &lt;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22863A"/>
                </a:solidFill>
                <a:effectLst/>
                <a:latin typeface="JetBrains Mono"/>
              </a:rPr>
              <a:t>artifactId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&gt;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javafx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-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maven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-plugin&lt;/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22863A"/>
                </a:solidFill>
                <a:effectLst/>
                <a:latin typeface="JetBrains Mono"/>
              </a:rPr>
              <a:t>artifactId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&gt;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            &lt;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2863A"/>
                </a:solidFill>
                <a:effectLst/>
                <a:latin typeface="JetBrains Mono"/>
              </a:rPr>
              <a:t>version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&gt;0.0.8&lt;/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2863A"/>
                </a:solidFill>
                <a:effectLst/>
                <a:latin typeface="JetBrains Mono"/>
              </a:rPr>
              <a:t>version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&gt;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            &lt;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2863A"/>
                </a:solidFill>
                <a:effectLst/>
                <a:latin typeface="JetBrains Mono"/>
              </a:rPr>
              <a:t>configuration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&gt;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                &lt;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22863A"/>
                </a:solidFill>
                <a:effectLst/>
                <a:latin typeface="JetBrains Mono"/>
              </a:rPr>
              <a:t>mainClass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&gt;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test.MainFX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&lt;/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22863A"/>
                </a:solidFill>
                <a:effectLst/>
                <a:latin typeface="JetBrains Mono"/>
              </a:rPr>
              <a:t>mainClass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&gt;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            &lt;/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2863A"/>
                </a:solidFill>
                <a:effectLst/>
                <a:latin typeface="JetBrains Mono"/>
              </a:rPr>
              <a:t>configuration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&gt;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        &lt;/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2863A"/>
                </a:solidFill>
                <a:effectLst/>
                <a:latin typeface="JetBrains Mono"/>
              </a:rPr>
              <a:t>plugin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&gt;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    &lt;/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2863A"/>
                </a:solidFill>
                <a:effectLst/>
                <a:latin typeface="JetBrains Mono"/>
              </a:rPr>
              <a:t>plugins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&gt;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&lt;/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22863A"/>
                </a:solidFill>
                <a:effectLst/>
                <a:latin typeface="JetBrains Mono"/>
              </a:rPr>
              <a:t>build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JetBrains Mono"/>
              </a:rPr>
              <a:t>&gt;</a:t>
            </a:r>
            <a:endParaRPr kumimoji="0" lang="fr-FR" altLang="fr-F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 descr="A blue and black text&#10;&#10;Description automatically generated">
            <a:extLst>
              <a:ext uri="{FF2B5EF4-FFF2-40B4-BE49-F238E27FC236}">
                <a16:creationId xmlns:a16="http://schemas.microsoft.com/office/drawing/2014/main" id="{2FD17F61-AFE9-5532-6D66-329DE08691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61" t="24828" b="17837"/>
          <a:stretch/>
        </p:blipFill>
        <p:spPr>
          <a:xfrm>
            <a:off x="7794932" y="6013422"/>
            <a:ext cx="714062" cy="360484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785449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668BB-E1D6-8135-47B1-B077C2B40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A385F-477A-B77B-129C-619A58613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IntelliJ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FFA0CB-A924-99B4-EC69-46260FDD0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 rot="16200000">
            <a:off x="3559247" y="-1728744"/>
            <a:ext cx="1434765" cy="7750664"/>
          </a:xfrm>
        </p:spPr>
        <p:txBody>
          <a:bodyPr>
            <a:normAutofit/>
          </a:bodyPr>
          <a:lstStyle/>
          <a:p>
            <a:r>
              <a:rPr lang="fr-FR" sz="1700" dirty="0" err="1">
                <a:solidFill>
                  <a:schemeClr val="tx1"/>
                </a:solidFill>
              </a:rPr>
              <a:t>View</a:t>
            </a:r>
            <a:r>
              <a:rPr lang="fr-FR" sz="1700" dirty="0">
                <a:solidFill>
                  <a:schemeClr val="tx1"/>
                </a:solidFill>
              </a:rPr>
              <a:t> -&gt; Tool Windows -&gt; Maven</a:t>
            </a:r>
          </a:p>
          <a:p>
            <a:r>
              <a:rPr lang="fr-FR" sz="1700" dirty="0">
                <a:solidFill>
                  <a:schemeClr val="tx1"/>
                </a:solidFill>
              </a:rPr>
              <a:t>Plugins -&gt; </a:t>
            </a:r>
            <a:r>
              <a:rPr lang="fr-FR" sz="1700" dirty="0" err="1">
                <a:solidFill>
                  <a:schemeClr val="tx1"/>
                </a:solidFill>
              </a:rPr>
              <a:t>javafx</a:t>
            </a:r>
            <a:r>
              <a:rPr lang="fr-FR" sz="1700" dirty="0">
                <a:solidFill>
                  <a:schemeClr val="tx1"/>
                </a:solidFill>
              </a:rPr>
              <a:t> -&gt; </a:t>
            </a:r>
            <a:r>
              <a:rPr lang="fr-FR" sz="1700" dirty="0" err="1">
                <a:solidFill>
                  <a:schemeClr val="tx1"/>
                </a:solidFill>
              </a:rPr>
              <a:t>javafx:run</a:t>
            </a:r>
            <a:endParaRPr lang="fr-FR" sz="1700" dirty="0">
              <a:solidFill>
                <a:schemeClr val="tx1"/>
              </a:solidFill>
            </a:endParaRPr>
          </a:p>
          <a:p>
            <a:endParaRPr lang="fr-FR" sz="1700" dirty="0">
              <a:solidFill>
                <a:schemeClr val="tx1"/>
              </a:solidFill>
            </a:endParaRPr>
          </a:p>
          <a:p>
            <a:endParaRPr lang="fr-FR" sz="17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3F8981-7398-D58B-EE5F-E4E516344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4ED690-8D9C-CF47-D19C-E5C0742D39B1}"/>
              </a:ext>
            </a:extLst>
          </p:cNvPr>
          <p:cNvSpPr txBox="1"/>
          <p:nvPr/>
        </p:nvSpPr>
        <p:spPr>
          <a:xfrm>
            <a:off x="1984074" y="7201783"/>
            <a:ext cx="6027579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6EA2CB8E-A150-3296-109A-C090BC610D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038" y="2525269"/>
            <a:ext cx="6373114" cy="3848637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802406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EA5FE-E6D8-C70B-0E9A-6009921F5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070EF-FB51-D035-0AA0-D4AFF22BF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Scene Builder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FEF73F-CC37-9C15-4814-914C243E4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8D8E8-7648-016A-1343-2902419AF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4" name="Picture 3" descr="Capture d’écran 2016-01-05 à 21.59.04.png">
            <a:extLst>
              <a:ext uri="{FF2B5EF4-FFF2-40B4-BE49-F238E27FC236}">
                <a16:creationId xmlns:a16="http://schemas.microsoft.com/office/drawing/2014/main" id="{7134E6CD-FA65-C64B-B153-C0D2209DD80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87" y="1600200"/>
            <a:ext cx="7581900" cy="4896900"/>
          </a:xfrm>
          <a:prstGeom prst="rect">
            <a:avLst/>
          </a:prstGeom>
          <a:ln w="38100" cap="sq">
            <a:solidFill>
              <a:srgbClr val="AD010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1364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pture d’écran 2016-01-05 à 22.09.44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196" y="958849"/>
            <a:ext cx="4199604" cy="2451100"/>
          </a:xfrm>
          <a:prstGeom prst="rect">
            <a:avLst/>
          </a:prstGeom>
          <a:ln>
            <a:solidFill>
              <a:srgbClr val="AD0101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4940409" y="2206385"/>
            <a:ext cx="1333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Vous</a:t>
            </a:r>
            <a:r>
              <a:rPr lang="en-US" sz="1100" dirty="0"/>
              <a:t> </a:t>
            </a:r>
            <a:r>
              <a:rPr lang="en-US" sz="1100" dirty="0" err="1"/>
              <a:t>avez</a:t>
            </a:r>
            <a:r>
              <a:rPr lang="en-US" sz="1100" dirty="0"/>
              <a:t> </a:t>
            </a:r>
            <a:r>
              <a:rPr lang="en-US" sz="1100" dirty="0" err="1"/>
              <a:t>cliqué</a:t>
            </a:r>
            <a:endParaRPr lang="en-US" sz="1100" dirty="0"/>
          </a:p>
        </p:txBody>
      </p:sp>
      <p:sp>
        <p:nvSpPr>
          <p:cNvPr id="4" name="Rectangle 3"/>
          <p:cNvSpPr/>
          <p:nvPr/>
        </p:nvSpPr>
        <p:spPr>
          <a:xfrm>
            <a:off x="665339" y="3693554"/>
            <a:ext cx="6870700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u="sng" dirty="0" err="1"/>
              <a:t>Dans</a:t>
            </a:r>
            <a:r>
              <a:rPr lang="en-US" b="1" u="sng" dirty="0"/>
              <a:t> le </a:t>
            </a:r>
            <a:r>
              <a:rPr lang="en-US" b="1" u="sng" dirty="0" err="1"/>
              <a:t>contrôleur</a:t>
            </a:r>
            <a:r>
              <a:rPr lang="en-US" b="1" u="sng" dirty="0"/>
              <a:t> (</a:t>
            </a:r>
            <a:r>
              <a:rPr lang="en-US" b="1" u="sng" dirty="0" err="1"/>
              <a:t>une</a:t>
            </a:r>
            <a:r>
              <a:rPr lang="en-US" b="1" u="sng" dirty="0"/>
              <a:t> </a:t>
            </a:r>
            <a:r>
              <a:rPr lang="en-US" b="1" u="sng" dirty="0" err="1"/>
              <a:t>classe</a:t>
            </a:r>
            <a:r>
              <a:rPr lang="en-US" b="1" u="sng" dirty="0"/>
              <a:t> .java) : </a:t>
            </a:r>
          </a:p>
          <a:p>
            <a:r>
              <a:rPr lang="en-US" dirty="0">
                <a:solidFill>
                  <a:srgbClr val="0000FF"/>
                </a:solidFill>
              </a:rPr>
              <a:t>p</a:t>
            </a:r>
            <a:r>
              <a:rPr lang="de-DE" dirty="0" err="1">
                <a:solidFill>
                  <a:srgbClr val="0000FF"/>
                </a:solidFill>
              </a:rPr>
              <a:t>ublic</a:t>
            </a:r>
            <a:r>
              <a:rPr lang="de-DE" dirty="0">
                <a:solidFill>
                  <a:srgbClr val="008000"/>
                </a:solidFill>
              </a:rPr>
              <a:t> </a:t>
            </a:r>
            <a:r>
              <a:rPr lang="de-DE" dirty="0" err="1">
                <a:solidFill>
                  <a:srgbClr val="0000FF"/>
                </a:solidFill>
              </a:rPr>
              <a:t>class</a:t>
            </a:r>
            <a:r>
              <a:rPr lang="de-DE" dirty="0">
                <a:solidFill>
                  <a:srgbClr val="0000FF"/>
                </a:solidFill>
              </a:rPr>
              <a:t> </a:t>
            </a:r>
            <a:r>
              <a:rPr lang="de-DE" b="1" dirty="0" err="1">
                <a:solidFill>
                  <a:schemeClr val="tx1"/>
                </a:solidFill>
              </a:rPr>
              <a:t>MyController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>
                <a:solidFill>
                  <a:srgbClr val="008000"/>
                </a:solidFill>
              </a:rPr>
              <a:t>{</a:t>
            </a:r>
          </a:p>
          <a:p>
            <a:r>
              <a:rPr lang="de-DE" dirty="0">
                <a:solidFill>
                  <a:srgbClr val="008000"/>
                </a:solidFill>
              </a:rPr>
              <a:t>......</a:t>
            </a:r>
          </a:p>
          <a:p>
            <a:r>
              <a:rPr lang="de-DE" dirty="0">
                <a:solidFill>
                  <a:srgbClr val="008000"/>
                </a:solidFill>
              </a:rPr>
              <a:t>@FXML</a:t>
            </a:r>
          </a:p>
          <a:p>
            <a:r>
              <a:rPr lang="en-US" dirty="0">
                <a:solidFill>
                  <a:srgbClr val="0000FF"/>
                </a:solidFill>
              </a:rPr>
              <a:t>p</a:t>
            </a:r>
            <a:r>
              <a:rPr lang="de-DE" dirty="0" err="1">
                <a:solidFill>
                  <a:srgbClr val="0000FF"/>
                </a:solidFill>
              </a:rPr>
              <a:t>ublic</a:t>
            </a:r>
            <a:r>
              <a:rPr lang="de-DE" dirty="0">
                <a:solidFill>
                  <a:srgbClr val="0000FF"/>
                </a:solidFill>
              </a:rPr>
              <a:t> </a:t>
            </a:r>
            <a:r>
              <a:rPr lang="de-DE" dirty="0" err="1">
                <a:solidFill>
                  <a:srgbClr val="0000FF"/>
                </a:solidFill>
              </a:rPr>
              <a:t>void</a:t>
            </a:r>
            <a:r>
              <a:rPr lang="de-DE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0000"/>
                </a:solidFill>
              </a:rPr>
              <a:t>initialize</a:t>
            </a:r>
            <a:r>
              <a:rPr lang="en-US" dirty="0">
                <a:solidFill>
                  <a:srgbClr val="000000"/>
                </a:solidFill>
              </a:rPr>
              <a:t>() {</a:t>
            </a:r>
          </a:p>
          <a:p>
            <a:endParaRPr lang="de-DE" dirty="0">
              <a:solidFill>
                <a:srgbClr val="008000"/>
              </a:solidFill>
            </a:endParaRPr>
          </a:p>
          <a:p>
            <a:r>
              <a:rPr lang="de-DE" dirty="0" err="1">
                <a:solidFill>
                  <a:srgbClr val="008000"/>
                </a:solidFill>
              </a:rPr>
              <a:t>button</a:t>
            </a:r>
            <a:r>
              <a:rPr lang="de-DE" dirty="0" err="1"/>
              <a:t>.setOnAction</a:t>
            </a:r>
            <a:r>
              <a:rPr lang="de-DE" dirty="0"/>
              <a:t>(e-&gt;{</a:t>
            </a:r>
          </a:p>
          <a:p>
            <a:r>
              <a:rPr lang="de-DE" dirty="0"/>
              <a:t>	</a:t>
            </a:r>
            <a:r>
              <a:rPr lang="de-DE" dirty="0" err="1">
                <a:solidFill>
                  <a:srgbClr val="008000"/>
                </a:solidFill>
              </a:rPr>
              <a:t>textField</a:t>
            </a:r>
            <a:r>
              <a:rPr lang="de-DE" dirty="0" err="1"/>
              <a:t>.setText</a:t>
            </a:r>
            <a:r>
              <a:rPr lang="de-DE" dirty="0"/>
              <a:t>(</a:t>
            </a:r>
            <a:r>
              <a:rPr lang="de-DE" dirty="0">
                <a:solidFill>
                  <a:srgbClr val="FF6600"/>
                </a:solidFill>
              </a:rPr>
              <a:t>“</a:t>
            </a:r>
            <a:r>
              <a:rPr lang="de-DE" dirty="0" err="1">
                <a:solidFill>
                  <a:srgbClr val="FF6600"/>
                </a:solidFill>
              </a:rPr>
              <a:t>Vous</a:t>
            </a:r>
            <a:r>
              <a:rPr lang="de-DE" dirty="0">
                <a:solidFill>
                  <a:srgbClr val="FF6600"/>
                </a:solidFill>
              </a:rPr>
              <a:t> </a:t>
            </a:r>
            <a:r>
              <a:rPr lang="de-DE" dirty="0" err="1">
                <a:solidFill>
                  <a:srgbClr val="FF6600"/>
                </a:solidFill>
              </a:rPr>
              <a:t>avez</a:t>
            </a:r>
            <a:r>
              <a:rPr lang="de-DE" dirty="0">
                <a:solidFill>
                  <a:srgbClr val="FF6600"/>
                </a:solidFill>
              </a:rPr>
              <a:t> </a:t>
            </a:r>
            <a:r>
              <a:rPr lang="de-DE" dirty="0" err="1">
                <a:solidFill>
                  <a:srgbClr val="FF6600"/>
                </a:solidFill>
              </a:rPr>
              <a:t>cliqué</a:t>
            </a:r>
            <a:r>
              <a:rPr lang="de-DE" dirty="0">
                <a:solidFill>
                  <a:srgbClr val="FF6600"/>
                </a:solidFill>
              </a:rPr>
              <a:t>"</a:t>
            </a:r>
            <a:r>
              <a:rPr lang="de-DE" dirty="0"/>
              <a:t>); </a:t>
            </a:r>
          </a:p>
          <a:p>
            <a:r>
              <a:rPr lang="de-DE" dirty="0"/>
              <a:t>});</a:t>
            </a:r>
          </a:p>
          <a:p>
            <a:r>
              <a:rPr lang="de-DE" dirty="0">
                <a:solidFill>
                  <a:schemeClr val="tx1"/>
                </a:solidFill>
              </a:rPr>
              <a:t>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9493" y="545068"/>
            <a:ext cx="2379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err="1"/>
              <a:t>Dans</a:t>
            </a:r>
            <a:r>
              <a:rPr lang="en-US" b="1" u="sng" dirty="0"/>
              <a:t> le </a:t>
            </a:r>
            <a:r>
              <a:rPr lang="en-US" b="1" u="sng" dirty="0" err="1"/>
              <a:t>fichier</a:t>
            </a:r>
            <a:r>
              <a:rPr lang="en-US" b="1" u="sng" dirty="0"/>
              <a:t> .</a:t>
            </a:r>
            <a:r>
              <a:rPr lang="en-US" b="1" u="sng" dirty="0" err="1"/>
              <a:t>fxml</a:t>
            </a:r>
            <a:r>
              <a:rPr lang="en-US" b="1" u="sng" dirty="0"/>
              <a:t> 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59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9222" y="4624668"/>
            <a:ext cx="4619978" cy="933450"/>
          </a:xfrm>
        </p:spPr>
        <p:txBody>
          <a:bodyPr>
            <a:normAutofit fontScale="90000"/>
          </a:bodyPr>
          <a:lstStyle/>
          <a:p>
            <a:r>
              <a:rPr lang="en-US" sz="7000" dirty="0"/>
              <a:t>Navigation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640763" y="6170613"/>
            <a:ext cx="503237" cy="503237"/>
          </a:xfrm>
        </p:spPr>
        <p:txBody>
          <a:bodyPr/>
          <a:lstStyle/>
          <a:p>
            <a:fld id="{BFEBEB0A-9E3D-4B14-9782-E2AE3DA60D9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218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0166" y="1028343"/>
            <a:ext cx="8665234" cy="3693319"/>
          </a:xfrm>
          <a:prstGeom prst="rect">
            <a:avLst/>
          </a:prstGeom>
          <a:ln>
            <a:solidFill>
              <a:srgbClr val="AD0101"/>
            </a:solidFill>
          </a:ln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008000"/>
                </a:solidFill>
              </a:rPr>
              <a:t>@FXML</a:t>
            </a:r>
          </a:p>
          <a:p>
            <a:r>
              <a:rPr lang="en-US" dirty="0">
                <a:solidFill>
                  <a:srgbClr val="0000FF"/>
                </a:solidFill>
              </a:rPr>
              <a:t>public </a:t>
            </a:r>
            <a:r>
              <a:rPr lang="en-US" dirty="0"/>
              <a:t>void </a:t>
            </a:r>
            <a:r>
              <a:rPr lang="en-US" dirty="0" err="1"/>
              <a:t>naviguerVersAjout</a:t>
            </a:r>
            <a:r>
              <a:rPr lang="en-US" dirty="0"/>
              <a:t>(</a:t>
            </a:r>
            <a:r>
              <a:rPr lang="en-US" dirty="0" err="1"/>
              <a:t>ActionEvent</a:t>
            </a:r>
            <a:r>
              <a:rPr lang="en-US" dirty="0"/>
              <a:t> event){</a:t>
            </a:r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	</a:t>
            </a:r>
          </a:p>
          <a:p>
            <a:r>
              <a:rPr lang="en-US" dirty="0">
                <a:solidFill>
                  <a:srgbClr val="0000FF"/>
                </a:solidFill>
              </a:rPr>
              <a:t>	try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/>
              <a:t>{</a:t>
            </a:r>
          </a:p>
          <a:p>
            <a:r>
              <a:rPr lang="en-US" dirty="0"/>
              <a:t>	  Parent root =</a:t>
            </a:r>
          </a:p>
          <a:p>
            <a:r>
              <a:rPr lang="en-US" dirty="0"/>
              <a:t>	</a:t>
            </a:r>
            <a:r>
              <a:rPr lang="en-US" dirty="0" err="1"/>
              <a:t>FXMLLoader.load</a:t>
            </a:r>
            <a:r>
              <a:rPr lang="en-US" dirty="0"/>
              <a:t>(</a:t>
            </a:r>
            <a:r>
              <a:rPr lang="en-US" dirty="0" err="1"/>
              <a:t>getClass</a:t>
            </a:r>
            <a:r>
              <a:rPr lang="en-US" dirty="0"/>
              <a:t>().</a:t>
            </a:r>
            <a:r>
              <a:rPr lang="en-US" dirty="0" err="1"/>
              <a:t>getResource</a:t>
            </a:r>
            <a:r>
              <a:rPr lang="en-US" dirty="0"/>
              <a:t>(</a:t>
            </a:r>
            <a:r>
              <a:rPr lang="en-US" dirty="0">
                <a:solidFill>
                  <a:srgbClr val="FF6600"/>
                </a:solidFill>
              </a:rPr>
              <a:t>"/</a:t>
            </a:r>
            <a:r>
              <a:rPr lang="en-US" dirty="0" err="1">
                <a:solidFill>
                  <a:srgbClr val="FF6600"/>
                </a:solidFill>
              </a:rPr>
              <a:t>AjouterPersonne.fxml</a:t>
            </a:r>
            <a:r>
              <a:rPr lang="en-US" dirty="0">
                <a:solidFill>
                  <a:srgbClr val="FF6600"/>
                </a:solidFill>
              </a:rPr>
              <a:t>"</a:t>
            </a:r>
            <a:r>
              <a:rPr lang="en-US" dirty="0"/>
              <a:t>);</a:t>
            </a:r>
          </a:p>
          <a:p>
            <a:r>
              <a:rPr lang="en-US" dirty="0">
                <a:solidFill>
                  <a:srgbClr val="008000"/>
                </a:solidFill>
              </a:rPr>
              <a:t>	  </a:t>
            </a:r>
            <a:r>
              <a:rPr lang="de-DE" dirty="0" err="1">
                <a:solidFill>
                  <a:srgbClr val="008000"/>
                </a:solidFill>
              </a:rPr>
              <a:t>textField</a:t>
            </a:r>
            <a:r>
              <a:rPr lang="de-DE" dirty="0"/>
              <a:t>.</a:t>
            </a:r>
            <a:r>
              <a:rPr lang="fr-FR" dirty="0" err="1"/>
              <a:t>getScene</a:t>
            </a:r>
            <a:r>
              <a:rPr lang="fr-FR" dirty="0"/>
              <a:t>().</a:t>
            </a:r>
            <a:r>
              <a:rPr lang="fr-FR" dirty="0" err="1"/>
              <a:t>setRoot</a:t>
            </a:r>
            <a:r>
              <a:rPr lang="fr-FR" dirty="0"/>
              <a:t>(root);</a:t>
            </a:r>
          </a:p>
          <a:p>
            <a:r>
              <a:rPr lang="fr-FR" dirty="0"/>
              <a:t>	</a:t>
            </a:r>
            <a:r>
              <a:rPr lang="en-US" dirty="0"/>
              <a:t>} </a:t>
            </a:r>
            <a:r>
              <a:rPr lang="en-US" dirty="0">
                <a:solidFill>
                  <a:srgbClr val="0000FF"/>
                </a:solidFill>
              </a:rPr>
              <a:t>catch</a:t>
            </a:r>
            <a:r>
              <a:rPr lang="en-US" dirty="0"/>
              <a:t> (</a:t>
            </a:r>
            <a:r>
              <a:rPr lang="en-US" dirty="0" err="1"/>
              <a:t>IOException</a:t>
            </a:r>
            <a:r>
              <a:rPr lang="en-US" dirty="0"/>
              <a:t> ex) {</a:t>
            </a:r>
          </a:p>
          <a:p>
            <a:r>
              <a:rPr lang="en-US" dirty="0"/>
              <a:t>	  </a:t>
            </a:r>
            <a:r>
              <a:rPr lang="en-US" dirty="0" err="1"/>
              <a:t>System.err.out</a:t>
            </a:r>
            <a:r>
              <a:rPr lang="en-US" dirty="0"/>
              <a:t>(</a:t>
            </a:r>
            <a:r>
              <a:rPr lang="en-US" dirty="0" err="1"/>
              <a:t>ex.getMessage</a:t>
            </a:r>
            <a:r>
              <a:rPr lang="en-US" dirty="0"/>
              <a:t>());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});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210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6000" dirty="0"/>
              <a:t>Insertion </a:t>
            </a:r>
            <a:r>
              <a:rPr lang="en-US" sz="6000" dirty="0" err="1"/>
              <a:t>dans</a:t>
            </a:r>
            <a:r>
              <a:rPr lang="en-US" sz="6000" dirty="0"/>
              <a:t> la BD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40763" y="6170613"/>
            <a:ext cx="503237" cy="503237"/>
          </a:xfrm>
        </p:spPr>
        <p:txBody>
          <a:bodyPr/>
          <a:lstStyle/>
          <a:p>
            <a:fld id="{BFEBEB0A-9E3D-4B14-9782-E2AE3DA60D9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601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Capture d’écran 2016-01-16 à 16.27.36.png"/>
          <p:cNvPicPr>
            <a:picLocks noGrp="1" noChangeAspect="1"/>
          </p:cNvPicPr>
          <p:nvPr>
            <p:ph sz="half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2392" b="-22392"/>
          <a:stretch>
            <a:fillRect/>
          </a:stretch>
        </p:blipFill>
        <p:spPr>
          <a:xfrm>
            <a:off x="1174088" y="-266700"/>
            <a:ext cx="6318912" cy="4571999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24888" y="3644899"/>
            <a:ext cx="6565900" cy="2421129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200" dirty="0" err="1">
                <a:solidFill>
                  <a:srgbClr val="008000"/>
                </a:solidFill>
              </a:rPr>
              <a:t>btn</a:t>
            </a:r>
            <a:r>
              <a:rPr lang="en-US" sz="2200" dirty="0" err="1"/>
              <a:t>.setOnAction</a:t>
            </a:r>
            <a:r>
              <a:rPr lang="en-US" sz="2200" dirty="0"/>
              <a:t>(event -&gt; {</a:t>
            </a:r>
          </a:p>
          <a:p>
            <a:pPr marL="0" indent="0">
              <a:buNone/>
            </a:pPr>
            <a:r>
              <a:rPr lang="en-US" sz="2200" dirty="0"/>
              <a:t>   </a:t>
            </a:r>
            <a:r>
              <a:rPr lang="en-US" sz="2200" dirty="0" err="1"/>
              <a:t>Personne</a:t>
            </a:r>
            <a:r>
              <a:rPr lang="en-US" sz="2200" dirty="0"/>
              <a:t> p = </a:t>
            </a:r>
            <a:r>
              <a:rPr lang="en-US" sz="2200" dirty="0">
                <a:solidFill>
                  <a:srgbClr val="0000FF"/>
                </a:solidFill>
              </a:rPr>
              <a:t>new</a:t>
            </a:r>
            <a:r>
              <a:rPr lang="en-US" sz="2200" dirty="0"/>
              <a:t> </a:t>
            </a:r>
            <a:r>
              <a:rPr lang="en-US" sz="2200" dirty="0" err="1"/>
              <a:t>Personne</a:t>
            </a:r>
            <a:r>
              <a:rPr lang="en-US" sz="2200" dirty="0"/>
              <a:t>(</a:t>
            </a:r>
            <a:r>
              <a:rPr lang="en-US" sz="2200" dirty="0" err="1">
                <a:solidFill>
                  <a:srgbClr val="008000"/>
                </a:solidFill>
              </a:rPr>
              <a:t>nom</a:t>
            </a:r>
            <a:r>
              <a:rPr lang="en-US" sz="2200" dirty="0" err="1"/>
              <a:t>.getText</a:t>
            </a:r>
            <a:r>
              <a:rPr lang="en-US" sz="2200" dirty="0"/>
              <a:t>(), </a:t>
            </a:r>
            <a:r>
              <a:rPr lang="en-US" sz="2200" dirty="0" err="1">
                <a:solidFill>
                  <a:srgbClr val="008000"/>
                </a:solidFill>
              </a:rPr>
              <a:t>prenom</a:t>
            </a:r>
            <a:r>
              <a:rPr lang="en-US" sz="2200" dirty="0" err="1"/>
              <a:t>.getText</a:t>
            </a:r>
            <a:r>
              <a:rPr lang="en-US" sz="2200" dirty="0"/>
              <a:t>());</a:t>
            </a:r>
          </a:p>
          <a:p>
            <a:pPr marL="0" indent="0">
              <a:buNone/>
            </a:pPr>
            <a:r>
              <a:rPr lang="en-US" sz="2200" dirty="0"/>
              <a:t>   </a:t>
            </a:r>
            <a:r>
              <a:rPr lang="en-US" sz="2200" dirty="0" err="1"/>
              <a:t>PersonneService</a:t>
            </a:r>
            <a:r>
              <a:rPr lang="en-US" sz="2200" dirty="0"/>
              <a:t> </a:t>
            </a:r>
            <a:r>
              <a:rPr lang="en-US" sz="2200" dirty="0" err="1"/>
              <a:t>ps</a:t>
            </a:r>
            <a:r>
              <a:rPr lang="en-US" sz="2200" dirty="0"/>
              <a:t> = new </a:t>
            </a:r>
            <a:r>
              <a:rPr lang="en-US" sz="2200" dirty="0" err="1"/>
              <a:t>PersonneService</a:t>
            </a:r>
            <a:r>
              <a:rPr lang="en-US" sz="2200" dirty="0"/>
              <a:t>();</a:t>
            </a:r>
          </a:p>
          <a:p>
            <a:pPr marL="0" indent="0">
              <a:buNone/>
            </a:pPr>
            <a:r>
              <a:rPr lang="en-US" sz="2200" dirty="0"/>
              <a:t>   </a:t>
            </a:r>
            <a:r>
              <a:rPr lang="en-US" sz="2200" dirty="0" err="1"/>
              <a:t>ps.insert</a:t>
            </a:r>
            <a:r>
              <a:rPr lang="en-US" sz="2200" dirty="0"/>
              <a:t>(p);</a:t>
            </a:r>
          </a:p>
          <a:p>
            <a:pPr marL="0" indent="0">
              <a:buNone/>
            </a:pPr>
            <a:r>
              <a:rPr lang="en-US" sz="2200" dirty="0"/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-812800" y="50800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5295900" y="2565400"/>
            <a:ext cx="1689100" cy="60960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noFill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1701800" y="2908300"/>
            <a:ext cx="3594100" cy="8255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25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0500" y="317500"/>
            <a:ext cx="6578600" cy="9144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Les </a:t>
            </a:r>
            <a:r>
              <a:rPr lang="en-US" dirty="0" err="1"/>
              <a:t>alertes</a:t>
            </a:r>
            <a:r>
              <a:rPr lang="en-US" dirty="0"/>
              <a:t> - Dialogs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01700" y="1485900"/>
            <a:ext cx="2953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u="sng" dirty="0"/>
              <a:t>Information Dialog :</a:t>
            </a:r>
          </a:p>
        </p:txBody>
      </p:sp>
      <p:pic>
        <p:nvPicPr>
          <p:cNvPr id="4" name="Picture 3" descr="Capture d’écran 2016-01-16 à 17.05.40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2070100"/>
            <a:ext cx="5346700" cy="1701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16000" y="4165938"/>
            <a:ext cx="6718300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000" dirty="0" err="1"/>
              <a:t>Alert</a:t>
            </a:r>
            <a:r>
              <a:rPr lang="fr-FR" sz="2000" dirty="0"/>
              <a:t> </a:t>
            </a:r>
            <a:r>
              <a:rPr lang="fr-FR" sz="2000" dirty="0" err="1"/>
              <a:t>alert</a:t>
            </a:r>
            <a:r>
              <a:rPr lang="fr-FR" sz="2000" dirty="0"/>
              <a:t> = </a:t>
            </a:r>
            <a:r>
              <a:rPr lang="fr-FR" sz="2000" dirty="0">
                <a:solidFill>
                  <a:srgbClr val="0000FF"/>
                </a:solidFill>
              </a:rPr>
              <a:t>new</a:t>
            </a:r>
            <a:r>
              <a:rPr lang="fr-FR" sz="2000" dirty="0"/>
              <a:t> </a:t>
            </a:r>
            <a:r>
              <a:rPr lang="fr-FR" sz="2000" dirty="0" err="1"/>
              <a:t>Alert</a:t>
            </a:r>
            <a:r>
              <a:rPr lang="fr-FR" sz="2000" dirty="0"/>
              <a:t>(</a:t>
            </a:r>
            <a:r>
              <a:rPr lang="fr-FR" sz="2000" dirty="0" err="1"/>
              <a:t>AlertType.</a:t>
            </a:r>
            <a:r>
              <a:rPr lang="fr-FR" sz="2000" dirty="0" err="1">
                <a:solidFill>
                  <a:srgbClr val="008000"/>
                </a:solidFill>
              </a:rPr>
              <a:t>INFORMATION</a:t>
            </a:r>
            <a:r>
              <a:rPr lang="fr-FR" sz="2000" dirty="0"/>
              <a:t>);</a:t>
            </a:r>
          </a:p>
          <a:p>
            <a:r>
              <a:rPr lang="fr-FR" sz="2000" dirty="0" err="1"/>
              <a:t>alert.setTitle</a:t>
            </a:r>
            <a:r>
              <a:rPr lang="fr-FR" sz="2000" dirty="0"/>
              <a:t>(</a:t>
            </a:r>
            <a:r>
              <a:rPr lang="fr-FR" sz="2000" dirty="0">
                <a:solidFill>
                  <a:srgbClr val="FF6600"/>
                </a:solidFill>
              </a:rPr>
              <a:t>"Information </a:t>
            </a:r>
            <a:r>
              <a:rPr lang="fr-FR" sz="2000" dirty="0" err="1">
                <a:solidFill>
                  <a:srgbClr val="FF6600"/>
                </a:solidFill>
              </a:rPr>
              <a:t>Dialog</a:t>
            </a:r>
            <a:r>
              <a:rPr lang="fr-FR" sz="2000" dirty="0">
                <a:solidFill>
                  <a:srgbClr val="FF6600"/>
                </a:solidFill>
              </a:rPr>
              <a:t>"</a:t>
            </a:r>
            <a:r>
              <a:rPr lang="fr-FR" sz="2000" dirty="0"/>
              <a:t>);</a:t>
            </a:r>
          </a:p>
          <a:p>
            <a:r>
              <a:rPr lang="fr-FR" sz="2000" dirty="0" err="1"/>
              <a:t>alert.setContentText</a:t>
            </a:r>
            <a:r>
              <a:rPr lang="fr-FR" sz="2000" dirty="0"/>
              <a:t>(</a:t>
            </a:r>
            <a:r>
              <a:rPr lang="fr-FR" sz="2000" dirty="0">
                <a:solidFill>
                  <a:srgbClr val="FF6600"/>
                </a:solidFill>
              </a:rPr>
              <a:t>"Personne insérée avec </a:t>
            </a:r>
            <a:r>
              <a:rPr lang="fr-FR" sz="2000" dirty="0" err="1">
                <a:solidFill>
                  <a:srgbClr val="FF6600"/>
                </a:solidFill>
              </a:rPr>
              <a:t>succés</a:t>
            </a:r>
            <a:r>
              <a:rPr lang="fr-FR" sz="2000" dirty="0">
                <a:solidFill>
                  <a:srgbClr val="FF6600"/>
                </a:solidFill>
              </a:rPr>
              <a:t>!"</a:t>
            </a:r>
            <a:r>
              <a:rPr lang="fr-FR" sz="2000" dirty="0"/>
              <a:t>);</a:t>
            </a:r>
          </a:p>
          <a:p>
            <a:r>
              <a:rPr lang="fr-FR" sz="2000" dirty="0" err="1"/>
              <a:t>alert.show</a:t>
            </a:r>
            <a:r>
              <a:rPr lang="fr-FR" sz="2000" dirty="0"/>
              <a:t>();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26022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1778" y="4624668"/>
            <a:ext cx="5057422" cy="933450"/>
          </a:xfrm>
        </p:spPr>
        <p:txBody>
          <a:bodyPr>
            <a:normAutofit fontScale="90000"/>
          </a:bodyPr>
          <a:lstStyle/>
          <a:p>
            <a:r>
              <a:rPr lang="en-US" sz="7000" dirty="0" err="1"/>
              <a:t>TableView</a:t>
            </a:r>
            <a:endParaRPr lang="en-US" sz="7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ObservalbleList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40763" y="6170613"/>
            <a:ext cx="503237" cy="503237"/>
          </a:xfrm>
        </p:spPr>
        <p:txBody>
          <a:bodyPr/>
          <a:lstStyle/>
          <a:p>
            <a:fld id="{BFEBEB0A-9E3D-4B14-9782-E2AE3DA60D9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969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1936" y="300926"/>
            <a:ext cx="6781800" cy="114351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/>
              <a:t>Les Collections </a:t>
            </a:r>
            <a:r>
              <a:rPr lang="en-US" sz="4000" dirty="0" err="1"/>
              <a:t>javaFX</a:t>
            </a:r>
            <a:r>
              <a:rPr lang="en-US" sz="4000" dirty="0"/>
              <a:t> </a:t>
            </a:r>
            <a:r>
              <a:rPr lang="en-US" sz="4000" dirty="0" err="1"/>
              <a:t>ObsevableList</a:t>
            </a:r>
            <a:endParaRPr 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250482692"/>
              </p:ext>
            </p:extLst>
          </p:nvPr>
        </p:nvGraphicFramePr>
        <p:xfrm>
          <a:off x="907903" y="144975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409959" y="3262603"/>
            <a:ext cx="2747849" cy="923330"/>
          </a:xfrm>
          <a:prstGeom prst="rect">
            <a:avLst/>
          </a:prstGeom>
          <a:ln w="38100" cmpd="sng">
            <a:solidFill>
              <a:srgbClr val="AD010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 err="1"/>
              <a:t>utilitaire</a:t>
            </a:r>
            <a:r>
              <a:rPr lang="en-US" dirty="0"/>
              <a:t> : 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 </a:t>
            </a:r>
            <a:r>
              <a:rPr lang="en-US" dirty="0" err="1"/>
              <a:t>observableArrayList</a:t>
            </a:r>
            <a:r>
              <a:rPr lang="en-US" dirty="0"/>
              <a:t>()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 </a:t>
            </a:r>
            <a:r>
              <a:rPr lang="en-US" dirty="0" err="1"/>
              <a:t>observableHashMap</a:t>
            </a:r>
            <a:r>
              <a:rPr lang="en-US" dirty="0"/>
              <a:t>()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5294020" y="2627395"/>
            <a:ext cx="0" cy="61015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ubtitle 2"/>
          <p:cNvSpPr txBox="1">
            <a:spLocks/>
          </p:cNvSpPr>
          <p:nvPr/>
        </p:nvSpPr>
        <p:spPr>
          <a:xfrm>
            <a:off x="734633" y="5513756"/>
            <a:ext cx="8118315" cy="990600"/>
          </a:xfrm>
          <a:prstGeom prst="rect">
            <a:avLst/>
          </a:prstGeom>
        </p:spPr>
        <p:txBody>
          <a:bodyPr/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686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64592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90195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9456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468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 u="sng" dirty="0" err="1"/>
              <a:t>ObservalbleList</a:t>
            </a:r>
            <a:r>
              <a:rPr lang="en-US" dirty="0"/>
              <a:t> :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liste</a:t>
            </a:r>
            <a:r>
              <a:rPr lang="en-US" dirty="0"/>
              <a:t> qui </a:t>
            </a:r>
            <a:r>
              <a:rPr lang="en-US" dirty="0" err="1"/>
              <a:t>permet</a:t>
            </a:r>
            <a:r>
              <a:rPr lang="en-US" dirty="0"/>
              <a:t> aux listeners de </a:t>
            </a:r>
            <a:r>
              <a:rPr lang="en-US" dirty="0" err="1"/>
              <a:t>détécter</a:t>
            </a:r>
            <a:r>
              <a:rPr lang="en-US" dirty="0"/>
              <a:t> les </a:t>
            </a:r>
            <a:r>
              <a:rPr lang="en-US" dirty="0" err="1"/>
              <a:t>changements</a:t>
            </a:r>
            <a:r>
              <a:rPr lang="en-US" dirty="0"/>
              <a:t> en temp </a:t>
            </a:r>
            <a:r>
              <a:rPr lang="en-US" dirty="0" err="1"/>
              <a:t>réel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78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pture d’écran 2016-01-19 à 16.35.1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844" y="767644"/>
            <a:ext cx="7536003" cy="5535495"/>
          </a:xfrm>
          <a:prstGeom prst="rect">
            <a:avLst/>
          </a:prstGeom>
          <a:ln w="38100" cap="sq">
            <a:solidFill>
              <a:srgbClr val="AD010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8471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265" y="912104"/>
            <a:ext cx="8919712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    @FXML</a:t>
            </a:r>
          </a:p>
          <a:p>
            <a:r>
              <a:rPr lang="en-US" sz="1600" dirty="0"/>
              <a:t>    </a:t>
            </a:r>
            <a:r>
              <a:rPr lang="en-US" sz="1600" dirty="0">
                <a:solidFill>
                  <a:srgbClr val="0000FF"/>
                </a:solidFill>
              </a:rPr>
              <a:t>private</a:t>
            </a:r>
            <a:r>
              <a:rPr lang="en-US" sz="1600" dirty="0"/>
              <a:t> </a:t>
            </a:r>
            <a:r>
              <a:rPr lang="en-US" sz="1600" dirty="0" err="1"/>
              <a:t>TableView</a:t>
            </a:r>
            <a:r>
              <a:rPr lang="en-US" sz="1600" dirty="0"/>
              <a:t>&lt;</a:t>
            </a:r>
            <a:r>
              <a:rPr lang="en-US" sz="1600" dirty="0" err="1"/>
              <a:t>Personne</a:t>
            </a:r>
            <a:r>
              <a:rPr lang="en-US" sz="1600" dirty="0"/>
              <a:t>&gt; </a:t>
            </a:r>
            <a:r>
              <a:rPr lang="en-US" sz="1600" dirty="0" err="1">
                <a:solidFill>
                  <a:srgbClr val="008000"/>
                </a:solidFill>
              </a:rPr>
              <a:t>personsTable</a:t>
            </a:r>
            <a:r>
              <a:rPr lang="en-US" sz="1600" dirty="0"/>
              <a:t>;</a:t>
            </a:r>
          </a:p>
          <a:p>
            <a:r>
              <a:rPr lang="en-US" sz="1600" dirty="0"/>
              <a:t>    @FXML</a:t>
            </a:r>
          </a:p>
          <a:p>
            <a:r>
              <a:rPr lang="en-US" sz="1600" dirty="0"/>
              <a:t>    </a:t>
            </a:r>
            <a:r>
              <a:rPr lang="en-US" sz="1600" dirty="0">
                <a:solidFill>
                  <a:srgbClr val="0000FF"/>
                </a:solidFill>
              </a:rPr>
              <a:t>private</a:t>
            </a:r>
            <a:r>
              <a:rPr lang="en-US" sz="1600" dirty="0"/>
              <a:t> </a:t>
            </a:r>
            <a:r>
              <a:rPr lang="en-US" sz="1600" dirty="0" err="1"/>
              <a:t>TableColumn</a:t>
            </a:r>
            <a:r>
              <a:rPr lang="en-US" sz="1600" dirty="0"/>
              <a:t>&lt;</a:t>
            </a:r>
            <a:r>
              <a:rPr lang="en-US" sz="1600" dirty="0" err="1"/>
              <a:t>Personne</a:t>
            </a:r>
            <a:r>
              <a:rPr lang="en-US" sz="1600" dirty="0"/>
              <a:t>, String&gt; </a:t>
            </a:r>
            <a:r>
              <a:rPr lang="en-US" sz="1600" dirty="0" err="1">
                <a:solidFill>
                  <a:srgbClr val="008000"/>
                </a:solidFill>
              </a:rPr>
              <a:t>NomColonne</a:t>
            </a:r>
            <a:r>
              <a:rPr lang="en-US" sz="1600" dirty="0"/>
              <a:t>;</a:t>
            </a:r>
          </a:p>
          <a:p>
            <a:r>
              <a:rPr lang="en-US" sz="1600" dirty="0"/>
              <a:t>    @FXML</a:t>
            </a:r>
          </a:p>
          <a:p>
            <a:r>
              <a:rPr lang="en-US" sz="1600" dirty="0"/>
              <a:t>    </a:t>
            </a:r>
            <a:r>
              <a:rPr lang="en-US" sz="1600" dirty="0">
                <a:solidFill>
                  <a:srgbClr val="0000FF"/>
                </a:solidFill>
              </a:rPr>
              <a:t>private</a:t>
            </a:r>
            <a:r>
              <a:rPr lang="en-US" sz="1600" dirty="0"/>
              <a:t> </a:t>
            </a:r>
            <a:r>
              <a:rPr lang="en-US" sz="1600" dirty="0" err="1"/>
              <a:t>TableColumn</a:t>
            </a:r>
            <a:r>
              <a:rPr lang="en-US" sz="1600" dirty="0"/>
              <a:t>&lt;Personne, String&gt; </a:t>
            </a:r>
            <a:r>
              <a:rPr lang="en-US" sz="1600" dirty="0" err="1">
                <a:solidFill>
                  <a:srgbClr val="008000"/>
                </a:solidFill>
              </a:rPr>
              <a:t>PrenomColonne</a:t>
            </a:r>
            <a:r>
              <a:rPr lang="en-US" sz="1600" dirty="0"/>
              <a:t>;</a:t>
            </a:r>
          </a:p>
          <a:p>
            <a:endParaRPr lang="en-US" sz="1600" dirty="0"/>
          </a:p>
          <a:p>
            <a:r>
              <a:rPr lang="de-DE" sz="1600" dirty="0">
                <a:solidFill>
                  <a:srgbClr val="008000"/>
                </a:solidFill>
              </a:rPr>
              <a:t>   @FXML</a:t>
            </a:r>
          </a:p>
          <a:p>
            <a:r>
              <a:rPr lang="de-DE" sz="1600" dirty="0">
                <a:solidFill>
                  <a:srgbClr val="008000"/>
                </a:solidFill>
              </a:rPr>
              <a:t>   </a:t>
            </a:r>
            <a:r>
              <a:rPr lang="en-US" sz="1600" dirty="0">
                <a:solidFill>
                  <a:srgbClr val="0000FF"/>
                </a:solidFill>
              </a:rPr>
              <a:t>p</a:t>
            </a:r>
            <a:r>
              <a:rPr lang="de-DE" sz="1600" dirty="0" err="1">
                <a:solidFill>
                  <a:srgbClr val="0000FF"/>
                </a:solidFill>
              </a:rPr>
              <a:t>ublic</a:t>
            </a:r>
            <a:r>
              <a:rPr lang="de-DE" sz="1600" dirty="0">
                <a:solidFill>
                  <a:srgbClr val="0000FF"/>
                </a:solidFill>
              </a:rPr>
              <a:t> </a:t>
            </a:r>
            <a:r>
              <a:rPr lang="de-DE" sz="1600" dirty="0" err="1">
                <a:solidFill>
                  <a:srgbClr val="0000FF"/>
                </a:solidFill>
              </a:rPr>
              <a:t>void</a:t>
            </a:r>
            <a:r>
              <a:rPr lang="de-DE" sz="1600" dirty="0">
                <a:solidFill>
                  <a:srgbClr val="0000FF"/>
                </a:solidFill>
              </a:rPr>
              <a:t> </a:t>
            </a:r>
            <a:r>
              <a:rPr lang="en-US" sz="1600" dirty="0">
                <a:solidFill>
                  <a:srgbClr val="000000"/>
                </a:solidFill>
              </a:rPr>
              <a:t>initialize() {</a:t>
            </a:r>
          </a:p>
          <a:p>
            <a:endParaRPr lang="en-US" sz="1600" dirty="0"/>
          </a:p>
          <a:p>
            <a:pPr lvl="1"/>
            <a:r>
              <a:rPr lang="en-US" sz="1600" dirty="0"/>
              <a:t> </a:t>
            </a:r>
            <a:r>
              <a:rPr lang="en-US" sz="1600" dirty="0" err="1"/>
              <a:t>PersonneService</a:t>
            </a:r>
            <a:r>
              <a:rPr lang="en-US" sz="1600" dirty="0"/>
              <a:t> </a:t>
            </a:r>
            <a:r>
              <a:rPr lang="en-US" sz="1600" dirty="0" err="1"/>
              <a:t>ps</a:t>
            </a:r>
            <a:r>
              <a:rPr lang="en-US" sz="1600" dirty="0"/>
              <a:t> = new </a:t>
            </a:r>
            <a:r>
              <a:rPr lang="en-US" sz="1600" dirty="0" err="1"/>
              <a:t>PersonneService</a:t>
            </a:r>
            <a:r>
              <a:rPr lang="en-US" sz="1600" dirty="0"/>
              <a:t>();</a:t>
            </a:r>
          </a:p>
          <a:p>
            <a:pPr lvl="1"/>
            <a:endParaRPr lang="en-US" sz="1600" dirty="0"/>
          </a:p>
          <a:p>
            <a:pPr lvl="1"/>
            <a:r>
              <a:rPr lang="fr-FR" sz="1600" dirty="0"/>
              <a:t> </a:t>
            </a:r>
            <a:r>
              <a:rPr lang="fr-FR" sz="1600" dirty="0" err="1"/>
              <a:t>ObservableList</a:t>
            </a:r>
            <a:r>
              <a:rPr lang="fr-FR" sz="1600" dirty="0"/>
              <a:t>&lt;Personne&gt; </a:t>
            </a:r>
            <a:r>
              <a:rPr lang="fr-FR" sz="1600" dirty="0" err="1"/>
              <a:t>observableList</a:t>
            </a:r>
            <a:r>
              <a:rPr lang="fr-FR" sz="1600" dirty="0"/>
              <a:t> = </a:t>
            </a:r>
            <a:r>
              <a:rPr lang="fr-FR" sz="1600" dirty="0" err="1"/>
              <a:t>FXCollections.observableList</a:t>
            </a:r>
            <a:r>
              <a:rPr lang="fr-FR" sz="1600" dirty="0"/>
              <a:t>(</a:t>
            </a:r>
            <a:r>
              <a:rPr lang="fr-FR" sz="1600" dirty="0" err="1"/>
              <a:t>ps.getAll</a:t>
            </a:r>
            <a:r>
              <a:rPr lang="fr-FR" sz="1600" dirty="0"/>
              <a:t>);</a:t>
            </a:r>
            <a:endParaRPr lang="en-US" sz="1600" dirty="0"/>
          </a:p>
          <a:p>
            <a:pPr lvl="1"/>
            <a:endParaRPr lang="en-US" sz="1600" dirty="0"/>
          </a:p>
          <a:p>
            <a:pPr lvl="1"/>
            <a:r>
              <a:rPr lang="de-DE" sz="1600" dirty="0"/>
              <a:t> </a:t>
            </a:r>
            <a:r>
              <a:rPr lang="de-DE" sz="1600" dirty="0" err="1">
                <a:solidFill>
                  <a:srgbClr val="008000"/>
                </a:solidFill>
              </a:rPr>
              <a:t>personsTable</a:t>
            </a:r>
            <a:r>
              <a:rPr lang="de-DE" sz="1600" dirty="0" err="1"/>
              <a:t>.setItems</a:t>
            </a:r>
            <a:r>
              <a:rPr lang="de-DE" sz="1600" dirty="0"/>
              <a:t>(</a:t>
            </a:r>
            <a:r>
              <a:rPr lang="fr-FR" sz="1600" dirty="0" err="1"/>
              <a:t>observableList</a:t>
            </a:r>
            <a:r>
              <a:rPr lang="fr-FR" sz="1600" dirty="0"/>
              <a:t>);</a:t>
            </a:r>
            <a:endParaRPr lang="de-DE" sz="1600" dirty="0"/>
          </a:p>
          <a:p>
            <a:pPr lvl="1"/>
            <a:endParaRPr lang="de-DE" sz="1600" dirty="0"/>
          </a:p>
          <a:p>
            <a:pPr lvl="1"/>
            <a:r>
              <a:rPr lang="de-DE" sz="1600" dirty="0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de-DE" sz="1600" dirty="0" err="1">
                <a:solidFill>
                  <a:schemeClr val="bg1">
                    <a:lumMod val="50000"/>
                  </a:schemeClr>
                </a:solidFill>
              </a:rPr>
              <a:t>Remplir</a:t>
            </a:r>
            <a:r>
              <a:rPr lang="de-DE" sz="1600" dirty="0">
                <a:solidFill>
                  <a:schemeClr val="bg1">
                    <a:lumMod val="50000"/>
                  </a:schemeClr>
                </a:solidFill>
              </a:rPr>
              <a:t> les </a:t>
            </a:r>
            <a:r>
              <a:rPr lang="de-DE" sz="1600" dirty="0" err="1">
                <a:solidFill>
                  <a:schemeClr val="bg1">
                    <a:lumMod val="50000"/>
                  </a:schemeClr>
                </a:solidFill>
              </a:rPr>
              <a:t>colonnes</a:t>
            </a:r>
            <a:r>
              <a:rPr lang="de-DE" sz="1600" dirty="0">
                <a:solidFill>
                  <a:schemeClr val="bg1">
                    <a:lumMod val="50000"/>
                  </a:schemeClr>
                </a:solidFill>
              </a:rPr>
              <a:t> : </a:t>
            </a:r>
          </a:p>
          <a:p>
            <a:pPr lvl="1"/>
            <a:r>
              <a:rPr lang="de-DE" sz="1600" dirty="0">
                <a:solidFill>
                  <a:srgbClr val="008000"/>
                </a:solidFill>
              </a:rPr>
              <a:t> </a:t>
            </a:r>
            <a:r>
              <a:rPr lang="de-DE" sz="1600" dirty="0" err="1">
                <a:solidFill>
                  <a:srgbClr val="008000"/>
                </a:solidFill>
              </a:rPr>
              <a:t>NomColonne</a:t>
            </a:r>
            <a:r>
              <a:rPr lang="de-DE" sz="1600" dirty="0" err="1"/>
              <a:t>.setCellValueFactory</a:t>
            </a:r>
            <a:r>
              <a:rPr lang="de-DE" sz="1600" dirty="0"/>
              <a:t>(</a:t>
            </a:r>
            <a:r>
              <a:rPr lang="de-DE" sz="1600" dirty="0" err="1"/>
              <a:t>cell</a:t>
            </a:r>
            <a:r>
              <a:rPr lang="de-DE" sz="1600" dirty="0"/>
              <a:t> -&gt; </a:t>
            </a:r>
            <a:r>
              <a:rPr lang="de-DE" sz="1600" dirty="0" err="1"/>
              <a:t>new</a:t>
            </a:r>
            <a:r>
              <a:rPr lang="de-DE" sz="1600" dirty="0"/>
              <a:t> </a:t>
            </a:r>
            <a:r>
              <a:rPr lang="de-DE" sz="1600" dirty="0" err="1"/>
              <a:t>PropertyValueFactory</a:t>
            </a:r>
            <a:r>
              <a:rPr lang="de-DE" sz="1600" dirty="0"/>
              <a:t>&lt;&gt;("</a:t>
            </a:r>
            <a:r>
              <a:rPr lang="de-DE" sz="1600" dirty="0" err="1"/>
              <a:t>nom</a:t>
            </a:r>
            <a:r>
              <a:rPr lang="de-DE" sz="1600" dirty="0"/>
              <a:t>"));</a:t>
            </a:r>
          </a:p>
          <a:p>
            <a:pPr lvl="1"/>
            <a:endParaRPr lang="de-DE" sz="1600" dirty="0"/>
          </a:p>
          <a:p>
            <a:pPr lvl="1"/>
            <a:r>
              <a:rPr lang="de-DE" sz="1600" dirty="0"/>
              <a:t> </a:t>
            </a:r>
            <a:r>
              <a:rPr lang="de-DE" sz="1600" dirty="0" err="1">
                <a:solidFill>
                  <a:srgbClr val="008000"/>
                </a:solidFill>
              </a:rPr>
              <a:t>PrenomColonne</a:t>
            </a:r>
            <a:r>
              <a:rPr lang="de-DE" sz="1600" dirty="0" err="1"/>
              <a:t>.setCellValueFactory</a:t>
            </a:r>
            <a:r>
              <a:rPr lang="de-DE" sz="1600" dirty="0"/>
              <a:t>(</a:t>
            </a:r>
            <a:r>
              <a:rPr lang="de-DE" sz="1600" dirty="0" err="1"/>
              <a:t>cell</a:t>
            </a:r>
            <a:r>
              <a:rPr lang="de-DE" sz="1600" dirty="0"/>
              <a:t> -&gt;</a:t>
            </a:r>
            <a:r>
              <a:rPr lang="de-DE" sz="1600" dirty="0" err="1"/>
              <a:t>new</a:t>
            </a:r>
            <a:r>
              <a:rPr lang="de-DE" sz="1600" dirty="0"/>
              <a:t> </a:t>
            </a:r>
            <a:r>
              <a:rPr lang="de-DE" sz="1600" dirty="0" err="1"/>
              <a:t>PropertyValueFactory</a:t>
            </a:r>
            <a:r>
              <a:rPr lang="de-DE" sz="1600" dirty="0"/>
              <a:t>&lt;&gt;("</a:t>
            </a:r>
            <a:r>
              <a:rPr lang="de-DE" sz="1600" dirty="0" err="1"/>
              <a:t>prenom</a:t>
            </a:r>
            <a:r>
              <a:rPr lang="de-DE" sz="1600" dirty="0"/>
              <a:t>");</a:t>
            </a:r>
          </a:p>
          <a:p>
            <a:pPr lvl="1"/>
            <a:endParaRPr lang="de-DE" sz="1600" dirty="0"/>
          </a:p>
          <a:p>
            <a:pPr lvl="1"/>
            <a:r>
              <a:rPr lang="de-DE" sz="1600" dirty="0"/>
              <a:t>}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184440" y="9297"/>
            <a:ext cx="277511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Impact"/>
                <a:ea typeface="+mj-ea"/>
                <a:cs typeface="+mj-cs"/>
              </a:rPr>
              <a:t>TableView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929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CSS </a:t>
            </a:r>
            <a:r>
              <a:rPr lang="en-US" dirty="0" err="1"/>
              <a:t>javaFX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Moderna.css</a:t>
            </a:r>
            <a:endParaRPr lang="en-US" dirty="0"/>
          </a:p>
          <a:p>
            <a:r>
              <a:rPr lang="en-US" dirty="0"/>
              <a:t>/jdk1.8.x/</a:t>
            </a:r>
            <a:r>
              <a:rPr lang="en-US" dirty="0" err="1"/>
              <a:t>jre</a:t>
            </a:r>
            <a:r>
              <a:rPr lang="en-US" dirty="0"/>
              <a:t>/lib/</a:t>
            </a:r>
            <a:r>
              <a:rPr lang="en-US" dirty="0" err="1"/>
              <a:t>ext</a:t>
            </a:r>
            <a:r>
              <a:rPr lang="en-US" dirty="0"/>
              <a:t>/</a:t>
            </a:r>
            <a:r>
              <a:rPr lang="en-US" dirty="0" err="1"/>
              <a:t>jfxrt.jar</a:t>
            </a:r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com/sun/</a:t>
            </a:r>
            <a:r>
              <a:rPr lang="en-US" dirty="0" err="1">
                <a:solidFill>
                  <a:schemeClr val="tx1"/>
                </a:solidFill>
              </a:rPr>
              <a:t>javafx</a:t>
            </a:r>
            <a:r>
              <a:rPr lang="en-US" dirty="0">
                <a:solidFill>
                  <a:schemeClr val="tx1"/>
                </a:solidFill>
              </a:rPr>
              <a:t>/scene/control/skin/</a:t>
            </a:r>
            <a:r>
              <a:rPr lang="en-US" dirty="0" err="1">
                <a:solidFill>
                  <a:schemeClr val="tx1"/>
                </a:solidFill>
              </a:rPr>
              <a:t>modena</a:t>
            </a:r>
            <a:r>
              <a:rPr lang="en-US" dirty="0">
                <a:solidFill>
                  <a:schemeClr val="tx1"/>
                </a:solidFill>
              </a:rPr>
              <a:t>/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40763" y="6170613"/>
            <a:ext cx="503237" cy="503237"/>
          </a:xfrm>
        </p:spPr>
        <p:txBody>
          <a:bodyPr/>
          <a:lstStyle/>
          <a:p>
            <a:fld id="{BFEBEB0A-9E3D-4B14-9782-E2AE3DA60D9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59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3" name="Picture 2" descr="Capture d’écran 2016-01-01 à 16.34.07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" y="609600"/>
            <a:ext cx="2590800" cy="2305996"/>
          </a:xfrm>
          <a:prstGeom prst="rect">
            <a:avLst/>
          </a:prstGeom>
          <a:ln w="38100" cap="sq">
            <a:solidFill>
              <a:srgbClr val="AD010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Oval 6"/>
          <p:cNvSpPr/>
          <p:nvPr/>
        </p:nvSpPr>
        <p:spPr>
          <a:xfrm>
            <a:off x="2844800" y="1993900"/>
            <a:ext cx="431800" cy="46990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254500" y="1816100"/>
            <a:ext cx="3225800" cy="40011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AD010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Ajouter</a:t>
            </a:r>
            <a:r>
              <a:rPr lang="en-US" dirty="0"/>
              <a:t> un </a:t>
            </a:r>
            <a:r>
              <a:rPr lang="en-US" dirty="0" err="1"/>
              <a:t>fichier</a:t>
            </a:r>
            <a:r>
              <a:rPr lang="en-US" dirty="0"/>
              <a:t> </a:t>
            </a:r>
            <a:r>
              <a:rPr lang="en-US" sz="2000" b="1" u="sng" dirty="0"/>
              <a:t>.</a:t>
            </a:r>
            <a:r>
              <a:rPr lang="en-US" sz="2000" b="1" u="sng" dirty="0" err="1"/>
              <a:t>css</a:t>
            </a:r>
            <a:endParaRPr lang="en-US" sz="2000" b="1" u="sng" dirty="0"/>
          </a:p>
        </p:txBody>
      </p:sp>
      <p:cxnSp>
        <p:nvCxnSpPr>
          <p:cNvPr id="10" name="Straight Arrow Connector 9"/>
          <p:cNvCxnSpPr>
            <a:endCxn id="8" idx="1"/>
          </p:cNvCxnSpPr>
          <p:nvPr/>
        </p:nvCxnSpPr>
        <p:spPr>
          <a:xfrm flipV="1">
            <a:off x="3162300" y="2016155"/>
            <a:ext cx="1092200" cy="2000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43000" y="3911600"/>
            <a:ext cx="6477000" cy="1569660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AD0101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 err="1"/>
              <a:t>Deux</a:t>
            </a:r>
            <a:r>
              <a:rPr lang="en-US" u="sng" dirty="0"/>
              <a:t> </a:t>
            </a:r>
            <a:r>
              <a:rPr lang="en-US" u="sng" dirty="0" err="1"/>
              <a:t>exemples</a:t>
            </a:r>
            <a:r>
              <a:rPr lang="en-US" u="sng" dirty="0"/>
              <a:t> de </a:t>
            </a:r>
            <a:r>
              <a:rPr lang="en-US" u="sng" dirty="0" err="1"/>
              <a:t>fichier</a:t>
            </a:r>
            <a:r>
              <a:rPr lang="en-US" u="sng" dirty="0"/>
              <a:t> </a:t>
            </a:r>
            <a:r>
              <a:rPr lang="en-US" sz="2400" b="1" u="sng" dirty="0"/>
              <a:t>.</a:t>
            </a:r>
            <a:r>
              <a:rPr lang="en-US" sz="2400" b="1" u="sng" dirty="0" err="1"/>
              <a:t>css</a:t>
            </a:r>
            <a:r>
              <a:rPr lang="en-US" u="sng" dirty="0"/>
              <a:t>  :</a:t>
            </a:r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de-DE" dirty="0" err="1"/>
              <a:t>JMetroDarkTheme.css</a:t>
            </a:r>
            <a:endParaRPr lang="de-DE" dirty="0"/>
          </a:p>
          <a:p>
            <a:pPr marL="285750" indent="-285750">
              <a:buFont typeface="Arial"/>
              <a:buChar char="•"/>
            </a:pPr>
            <a:r>
              <a:rPr lang="de-DE" dirty="0" err="1"/>
              <a:t>JMetroLightTheme.css</a:t>
            </a:r>
            <a:endParaRPr lang="de-DE" dirty="0"/>
          </a:p>
          <a:p>
            <a:pPr marL="285750" indent="-285750">
              <a:buFont typeface="Arial"/>
              <a:buChar char="•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980811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 err="1"/>
              <a:t>Graphes</a:t>
            </a:r>
            <a:endParaRPr lang="en-US" sz="6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PieChart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2629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4" name="Picture 3" descr="Capture d’écran 2016-01-19 à 19.45.57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17" y="846856"/>
            <a:ext cx="7378700" cy="5168900"/>
          </a:xfrm>
          <a:prstGeom prst="rect">
            <a:avLst/>
          </a:prstGeom>
          <a:ln w="38100" cap="sq">
            <a:solidFill>
              <a:srgbClr val="AD010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7203158"/>
      </p:ext>
    </p:extLst>
  </p:cSld>
  <p:clrMapOvr>
    <a:masterClrMapping/>
  </p:clrMapOvr>
</p:sld>
</file>

<file path=ppt/theme/theme1.xml><?xml version="1.0" encoding="utf-8"?>
<a:theme xmlns:a="http://schemas.openxmlformats.org/drawingml/2006/main" name="Avantage">
  <a:themeElements>
    <a:clrScheme name="A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E26A012EA26B49B0172631FF34ADDC" ma:contentTypeVersion="8" ma:contentTypeDescription="Crée un document." ma:contentTypeScope="" ma:versionID="208da48b58be641e802313044716edcf">
  <xsd:schema xmlns:xsd="http://www.w3.org/2001/XMLSchema" xmlns:xs="http://www.w3.org/2001/XMLSchema" xmlns:p="http://schemas.microsoft.com/office/2006/metadata/properties" xmlns:ns2="124a460d-b631-4c78-94dd-3ca4882ba8e4" targetNamespace="http://schemas.microsoft.com/office/2006/metadata/properties" ma:root="true" ma:fieldsID="f527118178b473b120af0df8506e1f77" ns2:_="">
    <xsd:import namespace="124a460d-b631-4c78-94dd-3ca4882ba8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4a460d-b631-4c78-94dd-3ca4882ba8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341C45C-A10C-4D26-8FAB-7257D75CB1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4a460d-b631-4c78-94dd-3ca4882ba8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438623E-C517-48FC-91D8-A90E531755C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4A6E2B9-5F56-4D63-8A8B-2FE7B34BC8F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Avantage.thmx</Template>
  <TotalTime>6948</TotalTime>
  <Words>962</Words>
  <Application>Microsoft Office PowerPoint</Application>
  <PresentationFormat>On-screen Show (4:3)</PresentationFormat>
  <Paragraphs>188</Paragraphs>
  <Slides>26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Avantage</vt:lpstr>
      <vt:lpstr>PiDev 3A – Sprint java</vt:lpstr>
      <vt:lpstr>PowerPoint Presentation</vt:lpstr>
      <vt:lpstr>MVC : Model View Controller</vt:lpstr>
      <vt:lpstr>Stage: Conteneur principal, habituellement une fenêtre.  Scene: Conteneur des UI elements, associé à un Stage.  </vt:lpstr>
      <vt:lpstr>GUI Java FX</vt:lpstr>
      <vt:lpstr>Hello World</vt:lpstr>
      <vt:lpstr>IntelliJ</vt:lpstr>
      <vt:lpstr>IntelliJ</vt:lpstr>
      <vt:lpstr>IntelliJ</vt:lpstr>
      <vt:lpstr>IntelliJ</vt:lpstr>
      <vt:lpstr>IntelliJ</vt:lpstr>
      <vt:lpstr>Scene Builder</vt:lpstr>
      <vt:lpstr>PowerPoint Presentation</vt:lpstr>
      <vt:lpstr>Navigation</vt:lpstr>
      <vt:lpstr>PowerPoint Presentation</vt:lpstr>
      <vt:lpstr>Insertion dans la BD </vt:lpstr>
      <vt:lpstr>PowerPoint Presentation</vt:lpstr>
      <vt:lpstr>Les alertes - Dialogs</vt:lpstr>
      <vt:lpstr>TableView</vt:lpstr>
      <vt:lpstr>Les Collections javaFX ObsevableList</vt:lpstr>
      <vt:lpstr>PowerPoint Presentation</vt:lpstr>
      <vt:lpstr>PowerPoint Presentation</vt:lpstr>
      <vt:lpstr>CSS javaFX</vt:lpstr>
      <vt:lpstr>PowerPoint Presentation</vt:lpstr>
      <vt:lpstr>Graphes</vt:lpstr>
      <vt:lpstr>PowerPoint Presentation</vt:lpstr>
    </vt:vector>
  </TitlesOfParts>
  <Company>Gis Int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 3A – Sprint java</dc:title>
  <dc:creator>Hjiri Abdelwaheb</dc:creator>
  <cp:lastModifiedBy>Skander CHAMAKHI</cp:lastModifiedBy>
  <cp:revision>138</cp:revision>
  <dcterms:created xsi:type="dcterms:W3CDTF">2015-12-28T10:32:58Z</dcterms:created>
  <dcterms:modified xsi:type="dcterms:W3CDTF">2026-02-04T16:15:38Z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0x01010068E26A012EA26B49B0172631FF34ADDC</vt:lpwstr>
  </property>
  <property fmtid="{D5CDD505-2E9C-101B-9397-08002B2CF9AE}" pid="3" name="Order">
    <vt:r8>1000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